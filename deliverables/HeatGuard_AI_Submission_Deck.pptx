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771b63a83842d9" /><Relationship Type="http://schemas.openxmlformats.org/officeDocument/2006/relationships/extended-properties" Target="/docProps/app.xml" Id="R4b26137d8b674427" /><Relationship Type="http://schemas.openxmlformats.org/officeDocument/2006/relationships/officeDocument" Target="/ppt/presentation.xml" Id="R1b21e80f8db54f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b1793a68194c99"/>
  </p:sldMasterIdLst>
  <p:notesMasterIdLst>
    <p:notesMasterId xmlns:r="http://schemas.openxmlformats.org/officeDocument/2006/relationships" r:id="R5cf9d7701da04f78"/>
  </p:notesMasterIdLst>
  <p:sldIdLst>
    <p:sldId xmlns:r="http://schemas.openxmlformats.org/officeDocument/2006/relationships" id="256" r:id="R72577713e4b34fd8"/>
    <p:sldId xmlns:r="http://schemas.openxmlformats.org/officeDocument/2006/relationships" id="257" r:id="R49a96eb58df040d4"/>
    <p:sldId xmlns:r="http://schemas.openxmlformats.org/officeDocument/2006/relationships" id="258" r:id="R060678d34de14c42"/>
    <p:sldId xmlns:r="http://schemas.openxmlformats.org/officeDocument/2006/relationships" id="259" r:id="R50f034813faf4798"/>
    <p:sldId xmlns:r="http://schemas.openxmlformats.org/officeDocument/2006/relationships" id="260" r:id="R533532141c7d4f59"/>
    <p:sldId xmlns:r="http://schemas.openxmlformats.org/officeDocument/2006/relationships" id="261" r:id="R9d58d69a32dc4c58"/>
    <p:sldId xmlns:r="http://schemas.openxmlformats.org/officeDocument/2006/relationships" id="262" r:id="R2c21b178f8604a51"/>
    <p:sldId xmlns:r="http://schemas.openxmlformats.org/officeDocument/2006/relationships" id="263" r:id="R9fbe7f7434c64588"/>
    <p:sldId xmlns:r="http://schemas.openxmlformats.org/officeDocument/2006/relationships" id="264" r:id="R5497024ca081499a"/>
    <p:sldId xmlns:r="http://schemas.openxmlformats.org/officeDocument/2006/relationships" id="265" r:id="R57c3a28009df489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1793a68194c99" /><Relationship Type="http://schemas.openxmlformats.org/officeDocument/2006/relationships/theme" Target="/ppt/theme/theme1.xml" Id="Rec270426870c423b" /><Relationship Type="http://schemas.openxmlformats.org/officeDocument/2006/relationships/notesMaster" Target="/ppt/notesMasters/notesMaster1.xml" Id="R5cf9d7701da04f78" /><Relationship Type="http://schemas.openxmlformats.org/officeDocument/2006/relationships/presProps" Target="/ppt/presProps.xml" Id="Rc3d742899ab44035" /><Relationship Type="http://schemas.openxmlformats.org/officeDocument/2006/relationships/viewProps" Target="/ppt/viewProps.xml" Id="R5acb220d49824884" /><Relationship Type="http://schemas.openxmlformats.org/officeDocument/2006/relationships/tableStyles" Target="/ppt/tableStyles.xml" Id="Rdd05ddffbcbb4dac" /><Relationship Type="http://schemas.openxmlformats.org/officeDocument/2006/relationships/slide" Target="/ppt/slides/slide1.xml" Id="R72577713e4b34fd8" /><Relationship Type="http://schemas.openxmlformats.org/officeDocument/2006/relationships/slide" Target="/ppt/slides/slide2.xml" Id="R49a96eb58df040d4" /><Relationship Type="http://schemas.openxmlformats.org/officeDocument/2006/relationships/slide" Target="/ppt/slides/slide3.xml" Id="R060678d34de14c42" /><Relationship Type="http://schemas.openxmlformats.org/officeDocument/2006/relationships/slide" Target="/ppt/slides/slide4.xml" Id="R50f034813faf4798" /><Relationship Type="http://schemas.openxmlformats.org/officeDocument/2006/relationships/slide" Target="/ppt/slides/slide5.xml" Id="R533532141c7d4f59" /><Relationship Type="http://schemas.openxmlformats.org/officeDocument/2006/relationships/slide" Target="/ppt/slides/slide6.xml" Id="R9d58d69a32dc4c58" /><Relationship Type="http://schemas.openxmlformats.org/officeDocument/2006/relationships/slide" Target="/ppt/slides/slide7.xml" Id="R2c21b178f8604a51" /><Relationship Type="http://schemas.openxmlformats.org/officeDocument/2006/relationships/slide" Target="/ppt/slides/slide8.xml" Id="R9fbe7f7434c64588" /><Relationship Type="http://schemas.openxmlformats.org/officeDocument/2006/relationships/slide" Target="/ppt/slides/slide9.xml" Id="R5497024ca081499a" /><Relationship Type="http://schemas.openxmlformats.org/officeDocument/2006/relationships/slide" Target="/ppt/slides/slide10.xml" Id="R57c3a28009df48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1d7527499c84d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f3c98044534ac8" /><Relationship Type="http://schemas.openxmlformats.org/officeDocument/2006/relationships/notesMaster" Target="/ppt/notesMasters/notesMaster1.xml" Id="R2d461aa4406b49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fbbbe769854a60" /><Relationship Type="http://schemas.openxmlformats.org/officeDocument/2006/relationships/notesMaster" Target="/ppt/notesMasters/notesMaster1.xml" Id="R0dee385bcc124f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04623d8b154231" /><Relationship Type="http://schemas.openxmlformats.org/officeDocument/2006/relationships/notesMaster" Target="/ppt/notesMasters/notesMaster1.xml" Id="R1d5c76cccf7946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596a1b0cd34667" /><Relationship Type="http://schemas.openxmlformats.org/officeDocument/2006/relationships/notesMaster" Target="/ppt/notesMasters/notesMaster1.xml" Id="R2a23ba9556594e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a1c4e7401042e8" /><Relationship Type="http://schemas.openxmlformats.org/officeDocument/2006/relationships/notesMaster" Target="/ppt/notesMasters/notesMaster1.xml" Id="R8ba85acf968248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bacb162b434008" /><Relationship Type="http://schemas.openxmlformats.org/officeDocument/2006/relationships/notesMaster" Target="/ppt/notesMasters/notesMaster1.xml" Id="R8100fcbf1d3240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31990c0dc742e7" /><Relationship Type="http://schemas.openxmlformats.org/officeDocument/2006/relationships/notesMaster" Target="/ppt/notesMasters/notesMaster1.xml" Id="R22ad0ab8b9ae40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6e2050473d4434" /><Relationship Type="http://schemas.openxmlformats.org/officeDocument/2006/relationships/notesMaster" Target="/ppt/notesMasters/notesMaster1.xml" Id="Rf24704a01fc242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cbd778d15b49d8" /><Relationship Type="http://schemas.openxmlformats.org/officeDocument/2006/relationships/notesMaster" Target="/ppt/notesMasters/notesMaster1.xml" Id="R46d4dfe1cdd648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cadf5b30974a89" /><Relationship Type="http://schemas.openxmlformats.org/officeDocument/2006/relationships/notesMaster" Target="/ppt/notesMasters/notesMaster1.xml" Id="R85041ef4d35048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7a87b3b5b41c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2316b5152ad46b1" /><Relationship Type="http://schemas.openxmlformats.org/officeDocument/2006/relationships/slideLayout" Target="/ppt/slideLayouts/slideLayout2.xml" Id="R6062a3c5d8a749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62a3c5d8a749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93ff8564ca4130" /><Relationship Type="http://schemas.openxmlformats.org/officeDocument/2006/relationships/notesSlide" Target="/ppt/notesSlides/notesSlide1.xml" Id="R6250b3fad4bc43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39f24573aa4429" /><Relationship Type="http://schemas.openxmlformats.org/officeDocument/2006/relationships/notesSlide" Target="/ppt/notesSlides/notesSlide2.xml" Id="R50e3d2ef14c345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23d40135fd4aba" /><Relationship Type="http://schemas.openxmlformats.org/officeDocument/2006/relationships/notesSlide" Target="/ppt/notesSlides/notesSlide3.xml" Id="Rc951e19a760445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38dde6b48c4724" /><Relationship Type="http://schemas.openxmlformats.org/officeDocument/2006/relationships/notesSlide" Target="/ppt/notesSlides/notesSlide4.xml" Id="R42e0abd724fa44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141437ff794572" /><Relationship Type="http://schemas.openxmlformats.org/officeDocument/2006/relationships/notesSlide" Target="/ppt/notesSlides/notesSlide5.xml" Id="R63133753d96048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b871eb50354de0" /><Relationship Type="http://schemas.openxmlformats.org/officeDocument/2006/relationships/notesSlide" Target="/ppt/notesSlides/notesSlide6.xml" Id="Rc00be898b4ed47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a87b1466404ddf" /><Relationship Type="http://schemas.openxmlformats.org/officeDocument/2006/relationships/notesSlide" Target="/ppt/notesSlides/notesSlide7.xml" Id="R0e512d310f6343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2cb938bb5b43e9" /><Relationship Type="http://schemas.openxmlformats.org/officeDocument/2006/relationships/notesSlide" Target="/ppt/notesSlides/notesSlide8.xml" Id="R525635dc981348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fc22c6ab274a9f" /><Relationship Type="http://schemas.openxmlformats.org/officeDocument/2006/relationships/notesSlide" Target="/ppt/notesSlides/notesSlide9.xml" Id="R1621957a5fa04d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d10c628ad849d2" /><Relationship Type="http://schemas.openxmlformats.org/officeDocument/2006/relationships/notesSlide" Target="/ppt/notesSlides/notesSlide10.xml" Id="Rd5d48f94106b466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2D6EA77F-FC70-4445-BAD7-8064259B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38629-7103-4755-8B23-32C1AD34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123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ED2E2-AD79-4D98-A3BD-29B18D30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6300"/>
            <a:ext cx="742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7F3C2"/>
                </a:solidFill>
              </a:defRPr>
            </a:pPr>
            <a:r>
              <a:rPr sz="2925" b="1">
                <a:solidFill>
                  <a:srgbClr val="67F3C2"/>
                </a:solidFill>
              </a:rPr>
              <a:t>HG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30042-A87E-4A96-865D-40139C26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335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8FFE4"/>
                </a:solidFill>
              </a:defRPr>
            </a:pPr>
            <a:r>
              <a:rPr sz="1800" b="1">
                <a:solidFill>
                  <a:srgbClr val="B8FFE4"/>
                </a:solidFill>
              </a:rPr>
              <a:t>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EA9DA-8200-46EC-9146-AC25AF7F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04850"/>
            <a:ext cx="1482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7F3C2"/>
                </a:solidFill>
              </a:defRPr>
            </a:pPr>
            <a:r>
              <a:rPr sz="1500" b="1">
                <a:solidFill>
                  <a:srgbClr val="67F3C2"/>
                </a:solidFill>
              </a:rPr>
              <a:t>IIIT LUCKNOW CLIMATE INTELLIGENCE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8BD4B-A799-450B-81AD-C3691B2F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066800"/>
            <a:ext cx="14820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6FBF8"/>
                </a:solidFill>
              </a:defRPr>
            </a:pPr>
            <a:r>
              <a:rPr sz="6450" b="1">
                <a:solidFill>
                  <a:srgbClr val="F6FBF8"/>
                </a:solidFill>
              </a:rPr>
              <a:t>HeatGuard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D6361-3DB9-4CF0-8FB5-38AD208A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90750"/>
            <a:ext cx="14820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10-Day Wet-Bulb Heat Risk Forecasting &amp; Action 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596D0-B424-4353-9619-0665596C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14078-F524-4905-83FB-F3D38E62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1238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9FB3AA"/>
                </a:solidFill>
              </a:defRPr>
            </a:pPr>
            <a:r>
              <a:rPr sz="2250" b="0">
                <a:solidFill>
                  <a:srgbClr val="9FB3AA"/>
                </a:solidFill>
              </a:rPr>
              <a:t>A deployable climate-intelligence platform that predicts dangerous wet-bulb heat, explains risk drivers, and generates audience-specific action advisories.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E8B2F-DA75-4A9C-B849-69637CEB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76725"/>
            <a:ext cx="3143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39C91-CA32-4329-BFE3-E9133CC5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1962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Track 1: WBT Forecasting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9B4B3-BAF7-4BFD-9F72-70C158C5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76725"/>
            <a:ext cx="2571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10EC3-273C-4A68-B50A-ECB36288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8150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ML + Explainability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C94B2-83CB-4364-A576-13FD785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76725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D373F-83CD-45D3-B45A-CA5260E7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8150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Gemini Advisory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97E47-C703-4D28-9270-7DD1C563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76725"/>
            <a:ext cx="2857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8A553-81F1-4A6D-9885-0C177FD0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81500"/>
            <a:ext cx="161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Streamlit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822F0-67D0-4ECD-9F9E-A01E41ED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57775"/>
            <a:ext cx="5257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498C2-40E1-4F9F-84A8-85E9F931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9590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6FBF8"/>
                </a:solidFill>
              </a:defRPr>
            </a:pPr>
            <a:r>
              <a:rPr sz="2625" b="1">
                <a:solidFill>
                  <a:srgbClr val="F6FBF8"/>
                </a:solidFill>
              </a:rPr>
              <a:t>Forecast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3B6FE-A254-49ED-BAC5-2B09FE88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1025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FB3AA"/>
                </a:solidFill>
              </a:defRPr>
            </a:pPr>
            <a:r>
              <a:rPr sz="1725" b="0">
                <a:solidFill>
                  <a:srgbClr val="9FB3AA"/>
                </a:solidFill>
              </a:rPr>
              <a:t>Predict 10 future wet-bulb values for each Kaggle row.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8AE9C-87F8-4AC1-90B0-CE035074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57775"/>
            <a:ext cx="5257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8E7836-7E3C-4C0D-AAF4-D9489A92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9590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6FBF8"/>
                </a:solidFill>
              </a:defRPr>
            </a:pPr>
            <a:r>
              <a:rPr sz="2625" b="1">
                <a:solidFill>
                  <a:srgbClr val="F6FBF8"/>
                </a:solidFill>
              </a:rPr>
              <a:t>Explain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308B6-182E-47F9-926C-81F1B2EE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102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FB3AA"/>
                </a:solidFill>
              </a:defRPr>
            </a:pPr>
            <a:r>
              <a:rPr sz="1725" b="0">
                <a:solidFill>
                  <a:srgbClr val="9FB3AA"/>
                </a:solidFill>
              </a:rPr>
              <a:t>Show risk level, reliability, and driver explanation.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2BC70-E791-4292-ABD0-AC90C259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057775"/>
            <a:ext cx="5257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C2BFD9-981E-4A92-9426-F3A927C9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29590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B8FFE4"/>
                </a:solidFill>
              </a:defRPr>
            </a:pPr>
            <a:r>
              <a:rPr sz="2625" b="1">
                <a:solidFill>
                  <a:srgbClr val="B8FFE4"/>
                </a:solidFill>
              </a:rPr>
              <a:t>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52262-AF37-4088-AA26-709A1464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8102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FB3AA"/>
                </a:solidFill>
              </a:defRPr>
            </a:pPr>
            <a:r>
              <a:rPr sz="1725" b="0">
                <a:solidFill>
                  <a:srgbClr val="9FB3AA"/>
                </a:solidFill>
              </a:rPr>
              <a:t>Generate heat advisories for citizens and institutions.</a:t>
            </a:r>
          </a:p>
        </p:txBody>
      </p:sp>
    </p:spTree>
    <p:extLst>
      <p:ext uri="{BB962C8B-B14F-4D97-AF65-F5344CB8AC3E}">
        <p14:creationId xmlns:p14="http://schemas.microsoft.com/office/powerpoint/2010/main" val="15730619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B9AB9FFF-0C9F-4BF9-BBAA-8C5AEADE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66752DA-5046-4342-AA9C-0937CAF1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WHY IT MATTERS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5248E1-820F-4463-9BCB-0BBD818E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Heat risk is not just temperature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200FAFA-B976-4875-BBD0-7E050D22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04013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Wet-bulb temperature captures combined heat and humidity stress, which is closer to human cooling limits.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3A651DD-1A86-46EC-9AE2-ED7DAD64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9ACAD-C391-4633-8B55-7D3EA081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1F168-6761-4727-B446-EF1EB097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WBT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82DAD-B6D1-4DE5-B9A8-F8D8455F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95600"/>
            <a:ext cx="676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Physiological stress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6E867-D462-4842-AF34-06390A1B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95650"/>
            <a:ext cx="676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When humidity is high, sweating becomes less effective and outdoor work becomes unsafe faster.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41D0B-108C-4F99-8F5A-1D21A945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527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504C1-16EB-4A34-8ACD-FDC320CC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10d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2418C-2395-48AF-B918-9DC81012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57650"/>
            <a:ext cx="676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Operational pressure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E8E68-A7E1-4E3B-8811-33821364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76750"/>
            <a:ext cx="676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Hospitals, schools, and city agencies need advance warning, not just retrospective heat reports.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0DE88-3F0C-4C9E-84FF-439DBF90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4256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113EA-8BFB-4CF3-BE4E-5C71E785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F25DE-F9B0-462B-88FA-1F2221DF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38750"/>
            <a:ext cx="676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Actionable 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7ED59-6F50-4ACF-AA92-453F011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57850"/>
            <a:ext cx="676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The platform translates forecasts into risk levels and practical heat-response actions.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DD3F5-84D9-4F6E-9CA7-5991BF3D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643" y="2887980"/>
            <a:ext cx="8461058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BD72F-42AA-458D-B8E6-9F4370FA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81350"/>
            <a:ext cx="781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FBF8"/>
                </a:solidFill>
              </a:defRPr>
            </a:pPr>
            <a:r>
              <a:rPr sz="2550" b="1">
                <a:solidFill>
                  <a:srgbClr val="F6FBF8"/>
                </a:solidFill>
              </a:rPr>
              <a:t>Wet-bulb risk thresholds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21096-47F7-4DD7-A184-3B285CC9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493" y="37719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98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D4235-AA6B-4DE0-8C68-80234FF3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86200"/>
            <a:ext cx="144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699459-2862-4BD0-BB34-70785D64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042" y="37719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9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2AC69-7EA1-4748-A722-B354436F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8620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&lt; 24 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5D52C7-3B2E-491C-86D4-7E31B863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6342" y="37719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9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67BB2A-16C1-4485-80CB-4A49F31B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886200"/>
            <a:ext cx="3733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normal monitoring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8B33F-64F7-4BE8-9C41-E9FEF423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493" y="43243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3A454E-1262-4417-9F8E-90A87B9A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38650"/>
            <a:ext cx="144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Moderate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389A59-B12E-43FA-A451-B5FF01FD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042" y="43243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18B11D-B6A1-46BE-8AB9-E6642303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386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24-27 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684F25-47C7-48B5-87CB-EA0F9519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6342" y="43243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BF38AF-4C63-443D-888F-236A86A4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4438650"/>
            <a:ext cx="3733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increase caution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5870B6-1566-446A-B09A-7347109D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493" y="48768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4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02773E-D7FB-46E8-AB66-A0B5E213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91100"/>
            <a:ext cx="144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High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8C6AB5-8622-465D-A0CB-517644A9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042" y="48768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4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FED1DA-0F0D-4687-A349-CE30643A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9110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27-30 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95AB8-C20A-4BB6-BD21-C1CC7F08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6342" y="48768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4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C4EFF5-48E6-4348-906B-1FF32345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4991100"/>
            <a:ext cx="3733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heat action prep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09AA71-E3AE-4DBA-AD1E-4D25688C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493" y="54292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6B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7B8D00-1C47-4B8C-AAB2-05CC4E30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43550"/>
            <a:ext cx="144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Extreme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2266AB-1B49-4DDC-A307-EB0AAF82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042" y="54292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6B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0B3D74-A9F9-48A2-BF95-6380BEA4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5435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&gt;= 30 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04430A-EB8D-4666-8172-129C2EF1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6342" y="54292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6B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1377FE-CF55-45E5-8419-14D1BEE0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5543550"/>
            <a:ext cx="3733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urgent protective response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12F5DE-B47E-4DE2-A137-86E88679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13410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8"/>
          </a:solidFill>
          <a:ln xmlns:a="http://schemas.openxmlformats.org/drawingml/2006/main" w="0">
            <a:solidFill>
              <a:srgbClr val="24443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D3E6DE-5FBF-4F5F-B3CB-D5DC0E1A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362700"/>
            <a:ext cx="781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Thresholds are centralized in code and can be adjusted if organizers provide local cutoffs.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32E37F-F93B-4CA6-83E5-B36EB2D0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493" y="7143750"/>
            <a:ext cx="1619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BDA863-899C-4C56-8128-90F18F13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7239000"/>
            <a:ext cx="127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Forecast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9E2DAA-994D-48B8-908E-DF22CCD7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5192" y="7143750"/>
            <a:ext cx="1619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7F52B7-BC94-4DBD-8083-19102CED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239000"/>
            <a:ext cx="127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Classify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20E140-48A4-4811-B45F-2559EBE8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5892" y="7143750"/>
            <a:ext cx="1428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C75F7D-C17A-45C1-A5AC-75AE6B4F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239000"/>
            <a:ext cx="108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Explain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E225DF-2234-47BE-8ABF-CB96A37A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092" y="7143750"/>
            <a:ext cx="1428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72F5B8-1359-43AB-A0CC-2479C46B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7239000"/>
            <a:ext cx="108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Advise</a:t>
            </a:r>
          </a:p>
        </p:txBody>
      </p:sp>
    </p:spTree>
    <p:extLst>
      <p:ext uri="{BB962C8B-B14F-4D97-AF65-F5344CB8AC3E}">
        <p14:creationId xmlns:p14="http://schemas.microsoft.com/office/powerpoint/2010/main" val="14334006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3269543E-ADB1-46D2-93E0-35CF85A4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7F4D30D-FCF1-42E7-9BB5-0F81314C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CHALLENGE TARGET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012348-4F74-44D0-B24E-75195C0E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Predict 10 future WBT values per test row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71BB43C-41FD-4ECB-B04A-77F75E2E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8362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HeatGuard AI produces Kaggle-ready target_day_1 through target_day_10 predictions.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EAC333B-E0F8-40EA-9D41-1C72C5CB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769F3-EE56-47DF-AC1B-69FDA852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8471059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2214F-DA83-4755-B559-E91C7ADD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790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BF8"/>
                </a:solidFill>
              </a:defRPr>
            </a:pPr>
            <a:r>
              <a:rPr sz="2400" b="1">
                <a:solidFill>
                  <a:srgbClr val="F6FBF8"/>
                </a:solidFill>
              </a:rPr>
              <a:t>Input files used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53E86-D039-4BC7-B03A-A4106720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999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F72CD-8D96-48D8-BF99-57120077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2542D-8B93-47AD-9515-485138B5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2999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E6E6A-715A-4F36-94E6-252D5616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29050"/>
            <a:ext cx="516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EA750-0F36-41F7-9F87-E9BA2078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389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A5CD5-766C-4DD6-880A-46DF793B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train.csv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5DA02-6043-4D14-8FBF-134D1E10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5389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1C04C-30F1-4105-98E5-692D4DA0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52950"/>
            <a:ext cx="516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Historical WBT labels for supervised training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89423-93BD-4BEB-BF61-6FC4183C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589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42CE3-BD67-4899-81A3-A9DA394D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context.csv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3D564-5B24-40BF-9AE7-D26E3003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1589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9663A-DF25-4A77-98BA-848347DC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14950"/>
            <a:ext cx="516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Recent context for lag and rolling features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D6E390-8A98-43BB-BBAC-DA322F2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7789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958A9-9059-4C26-82E2-96E42C18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769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test.csv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0A9CAF-D1E2-4823-87D8-522E3228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97789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D930B-E8DF-4CFC-BFE5-6B0D8898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076950"/>
            <a:ext cx="516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Future rows to score by location/day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518572-9DB3-4742-ACA5-2D4F01D3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73989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483FDF-7A9F-4B57-B565-0F2BAA97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8389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sample_submission.csv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24ABEE-C656-4704-8926-58E7A709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73989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B4B06-B51E-4114-B811-31B3A2D7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838950"/>
            <a:ext cx="516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Required output schema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FAA326-B5BD-4716-A15A-664D6EA8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409" y="2887980"/>
            <a:ext cx="7664291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52777-9ED0-4759-8DB5-8D5D0FC8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6705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C550AF-568F-43CA-ABE2-894CDCA2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0995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Feature frame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CC9393-9BCF-4913-A5B8-BFB8024D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71900"/>
            <a:ext cx="731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weather, location, time, lag, rolling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EB8AAE-00BE-4BA1-BA2D-15B46DD5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409" y="4545330"/>
            <a:ext cx="7664291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E4BCAB-77CF-47D5-B75C-96582BD0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2440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6A26CF-BAC3-4A90-A03E-CE2126BB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06730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Direct horizon models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3558E0-64DA-44BC-B072-1B68043F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429250"/>
            <a:ext cx="731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one forecast path for days 1-10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7D1561-FB1D-482E-A838-CC292710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409" y="6202680"/>
            <a:ext cx="7664291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ACD186-61AD-4478-96CB-F1FEC05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38175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F30A1E-A395-4D7B-BCD0-1D7B08D4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72465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submission.csv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70D4F2-F077-4030-B0AF-1B0D56DD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086600"/>
            <a:ext cx="731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row_id + target_day_1...target_day_10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C7F8F9-860C-45FE-A61B-CA0419B9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409" y="7860030"/>
            <a:ext cx="7664291" cy="1817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EA6038-6F08-46C3-A709-84EA9CEA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096250"/>
            <a:ext cx="71628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8FFE4"/>
                </a:solidFill>
              </a:defRPr>
            </a:pPr>
            <a:r>
              <a:rPr sz="2400" b="1">
                <a:solidFill>
                  <a:srgbClr val="B8FFE4"/>
                </a:solidFill>
              </a:rPr>
              <a:t>The generated CSV has 500,875 rows and no missing predictions.</a:t>
            </a:r>
          </a:p>
        </p:txBody>
      </p:sp>
    </p:spTree>
    <p:extLst>
      <p:ext uri="{BB962C8B-B14F-4D97-AF65-F5344CB8AC3E}">
        <p14:creationId xmlns:p14="http://schemas.microsoft.com/office/powerpoint/2010/main" val="11053482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0522CE85-C26F-485D-B5B4-DA49C8FE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807F306-6A8A-47C8-8461-2D3A346F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SYSTEM DESIGN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B2A73F-0B7E-4CB1-B705-03D24575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End-to-end climate intelligence pipeline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79F5320-6B39-4FBD-A35D-2E623B5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08013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The submission is more than a model: it is a reusable forecasting system connected to a demo-ready dashboard.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3F8530-ADE0-4980-A7E8-51E6E43E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EA563-2C35-4A71-A24D-5EA0E573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23399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C0EC2-1FE4-4021-BFD1-FB4948CD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FDD61-BD81-4316-A0A1-D6E246CB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87CEA-3B70-4F05-AE83-D2108162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train/test/context 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7F4F1-EF3D-44A5-B5B5-11267CAF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95600"/>
            <a:ext cx="209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98C3E-3122-4784-A975-FA46A45D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425" y="2887980"/>
            <a:ext cx="23399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1C24D-633E-4B1A-8A11-7D845784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670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C1B6A-D131-4246-BEE2-255836E0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099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Preprocess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8477C-CF90-43BE-96F9-23D7A067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719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missing values + 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EF6E8-81FC-4208-BE7F-6E0CBAE5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09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35BFD-DE91-447C-A3C8-3595A990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2887980"/>
            <a:ext cx="23399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8C866-8F5B-43A3-A9BB-729F204F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670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594FA-66C2-4179-8AEF-0D13D43F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099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090B6F-453B-42D1-86F8-F8E022FC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lags, rolling, cyclical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411B11-9603-41E9-A443-49E8E3D7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95600"/>
            <a:ext cx="209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3E50F-3B79-49EF-9DE7-9F17C17A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87980"/>
            <a:ext cx="23399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DA9F98-4A1D-4CC0-83CB-2F62B77A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2B4F1-1C41-434B-8F83-84FA65A5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099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ML Forecast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05192-2251-4F11-A6F4-05105225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719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Fast ExtraTrees models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D68C24-710B-4C89-88D4-554A19DC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895600"/>
            <a:ext cx="209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C434DB-F3B7-4216-8634-4F58B1B5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8800" y="2887980"/>
            <a:ext cx="23399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F5F8A6-538C-42D6-A881-32BDECCE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0670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F8955D-B7B2-4A2A-8E61-1F8E2555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4099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Risk Layer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1DCE1-946D-483B-9EFC-839A26AE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7719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WBT thresholds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0BCC6C-6E57-4D27-8DBF-80C31E69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2895600"/>
            <a:ext cx="209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B3A51A-707D-4125-BBBD-C75CBA67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6925" y="2887980"/>
            <a:ext cx="2540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9A12FF-3476-4C5F-B7DA-829EE97A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30670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2A4428-6372-475E-9294-CC45582B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34099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Advisory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F0352E-C32C-42FF-BB15-9FA94710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3771900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Gemini or rule fallback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0206BE-DA07-403F-9228-CF9851F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700" y="2895600"/>
            <a:ext cx="9525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CB9EC3-3DA7-457B-987F-481DDED1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83480"/>
            <a:ext cx="16535400" cy="4693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D1B9E5-D5EC-428E-AC68-2D90CE5F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8828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077B88-F0C1-4F3D-8BD9-0A5C7705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!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87D469-687E-40E0-A75F-E7201BDD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95900"/>
            <a:ext cx="422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No leakage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D8AD72-225D-47C2-B5CE-3477CF29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95950"/>
            <a:ext cx="4229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Future target labels are shifted; features use current, past, and context values.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8BB100-AF20-4B3C-A072-BDA010D3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28828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D1F92E-C7EC-4A4F-A1F6-703E8E82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292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ML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E44B63-375B-45CF-BB63-867EFB4C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95900"/>
            <a:ext cx="422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Reusable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0F6CFC-06CD-4A76-8AC9-812379C8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95950"/>
            <a:ext cx="4229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Training, prediction, submission, explainability, and advisory are separated into src modules.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10C4E5-4A1B-48E0-9128-CD3EEBE9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9750" y="528828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88DD70-0D75-4135-85DC-B32F1BF9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54292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HF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658CEF-E9A1-4B9B-B7F5-2A53341B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295900"/>
            <a:ext cx="422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Deployable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D72C91-5C9F-47C7-ABCA-F1CA302A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695950"/>
            <a:ext cx="4229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Streamlit app runs locally and is compatible with Hugging Face Spaces secrets.</a:t>
            </a:r>
          </a:p>
        </p:txBody>
      </p:sp>
    </p:spTree>
    <p:extLst>
      <p:ext uri="{BB962C8B-B14F-4D97-AF65-F5344CB8AC3E}">
        <p14:creationId xmlns:p14="http://schemas.microsoft.com/office/powerpoint/2010/main" val="10008733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0B586439-2C18-4721-BF4B-43282E63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741F0D9-0C58-4902-9C81-424DF9DF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FEATURE ENGINEERING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9E8E82-4FB3-494A-98CB-D3720DEE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Strong temporal features drive the forecast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CF174AA-4D6C-472D-BF3E-97F0EA53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9505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The model sees weather predictors plus time-aware patterns that support 10-day lead predictions.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F702C7-015D-4D51-9E19-CD162ED2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93218-68B7-45CE-A2B5-C724553C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9277826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938F0-904B-4A76-A526-BEA64593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5468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60535-47F4-4F9A-89CF-3F606715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5755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Feature group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34A51-FCC9-4A34-BCC0-1EF86378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54680"/>
            <a:ext cx="571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B1E50-2ADE-48AC-9CA4-6EF5CF49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5755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E4569-EDB8-4816-94DA-3B01CB5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428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3C182-0ECB-41EE-B88A-C35143B2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Weather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78F5A-F1B9-4202-AB20-548D085C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6428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FA282-7660-4634-A8B6-16A747C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6715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temperature, humidity, wind, pressure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BCCAB-76AD-4AE4-A6AC-2266CE5A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198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FF3B2-C01D-4400-B12E-5FF3B1D6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1485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Location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7AAFE-22C1-41C6-98F8-ECFCAD40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1198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B62EB-7C98-4D60-ABAB-5379D0B0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1485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relative lat/lon, location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3FE28-A3FB-4A80-BC82-FC6C5D88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5968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A760A-151C-40B5-AC95-12B35B67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6255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Calendar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126E44-2198-48EA-B0E8-032A78CD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5968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E06B2-0645-4CBA-91A9-AD44F464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6255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month, day of year, sine/cosine cycles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A3F860-A929-4F35-97EE-9FB070B6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0738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749C49-FC70-48CB-96C3-907FA644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1025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Lag history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BB58A-F2EE-4785-A832-CCAB9966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0738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07265D-EC30-4C4C-A8F3-AFA8F5EF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81025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lag_1, lag_2, lag_3, lag_7, lag_10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C456E0-1D90-4A97-A5B4-24E056F4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5508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447144-6AAA-4737-BE7A-A2F55ECF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45795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Rolling trend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6BA0C9-0710-47E2-AAF3-B5FFDE2E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35508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66B07F-82D2-47F7-B279-DF19912C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45795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mean_3, mean_7, std_7, max_7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CAF933-42DB-40A9-B7E2-20D23502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176" y="2887980"/>
            <a:ext cx="6857524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9B3C92-E728-4CD4-921F-4C673A13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086100"/>
            <a:ext cx="640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Engineered features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4C83B7-810D-456D-B8AF-550644FF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390900"/>
            <a:ext cx="6400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67F3C2"/>
                </a:solidFill>
              </a:defRPr>
            </a:pPr>
            <a:r>
              <a:rPr sz="3225" b="1">
                <a:solidFill>
                  <a:srgbClr val="67F3C2"/>
                </a:solidFill>
              </a:rPr>
              <a:t>237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A5CFC3-D774-4C66-B8E5-FBEAF898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000500"/>
            <a:ext cx="640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FB3AA"/>
                </a:solidFill>
              </a:defRPr>
            </a:pPr>
            <a:r>
              <a:rPr sz="1425" b="0">
                <a:solidFill>
                  <a:srgbClr val="9FB3AA"/>
                </a:solidFill>
              </a:rPr>
              <a:t>saved in models/features.json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2ACAA9-23D8-4B8E-86B9-BE9A1319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176" y="4792980"/>
            <a:ext cx="6857524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6E3E89-8049-40C5-9FA2-EDB3A737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991100"/>
            <a:ext cx="640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Forecast horizon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5D78BF-696F-4B6D-BB16-7DE0508C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295900"/>
            <a:ext cx="6400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B8FFE4"/>
                </a:solidFill>
              </a:defRPr>
            </a:pPr>
            <a:r>
              <a:rPr sz="3225" b="1">
                <a:solidFill>
                  <a:srgbClr val="B8FFE4"/>
                </a:solidFill>
              </a:rPr>
              <a:t>10 days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B323AA-544C-401F-8160-A90BE993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905500"/>
            <a:ext cx="640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FB3AA"/>
                </a:solidFill>
              </a:defRPr>
            </a:pPr>
            <a:r>
              <a:rPr sz="1425" b="0">
                <a:solidFill>
                  <a:srgbClr val="9FB3AA"/>
                </a:solidFill>
              </a:rPr>
              <a:t>direct target_day outputs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5D2CC0-544F-47A3-8C4C-0236DA46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176" y="6697980"/>
            <a:ext cx="6857524" cy="297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26166C-F5FC-4014-A306-984A799E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934200"/>
            <a:ext cx="63627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6FBF8"/>
                </a:solidFill>
              </a:defRPr>
            </a:pPr>
            <a:r>
              <a:rPr sz="2250" b="1">
                <a:solidFill>
                  <a:srgbClr val="F6FBF8"/>
                </a:solidFill>
              </a:rPr>
              <a:t>Feature design emphasizes recent heat/humidity behavior and seasonal cycles while preserving chronological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8284023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240CA2A4-5988-4E01-BD8E-3EB987B0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1DAA97E-210B-4E51-9340-438625BF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MODEL &amp; VALIDATION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371A73-83E6-4E56-8919-BFF3A150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FastExtraTrees selected on time-aware validation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DC00F14-E4DC-4909-BE10-7527FE8D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952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The model was trained on real Kaggle train.csv with a chronological split and future-shifted targets.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2D38F83-495A-4669-9937-2EDBC287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7F438-0E76-4898-BB8C-960983AE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3741896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81C58-BE74-4CE5-BE42-F8B576AF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MAE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94D55-47D0-4EFA-9F2B-FBE463D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3276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67F3C2"/>
                </a:solidFill>
              </a:defRPr>
            </a:pPr>
            <a:r>
              <a:rPr sz="3225" b="1">
                <a:solidFill>
                  <a:srgbClr val="67F3C2"/>
                </a:solidFill>
              </a:rPr>
              <a:t>0.323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8DE49-318D-442F-95BF-69ADCC85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3276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FB3AA"/>
                </a:solidFill>
              </a:defRPr>
            </a:pPr>
            <a:r>
              <a:rPr sz="1425" b="0">
                <a:solidFill>
                  <a:srgbClr val="9FB3AA"/>
                </a:solidFill>
              </a:rPr>
              <a:t>lower is better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F5841-49FC-4035-AB49-09BACF53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646" y="2887980"/>
            <a:ext cx="3741896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E818B-CFE1-4BFE-8E1A-EB8F5E42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861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RMSE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3904D-773D-4BC1-B4C8-775E1D5F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3276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67F3C2"/>
                </a:solidFill>
              </a:defRPr>
            </a:pPr>
            <a:r>
              <a:rPr sz="3225" b="1">
                <a:solidFill>
                  <a:srgbClr val="67F3C2"/>
                </a:solidFill>
              </a:rPr>
              <a:t>0.446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FCFC6-EDCE-4020-8A62-B2C731E5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00500"/>
            <a:ext cx="3276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FB3AA"/>
                </a:solidFill>
              </a:defRPr>
            </a:pPr>
            <a:r>
              <a:rPr sz="1425" b="0">
                <a:solidFill>
                  <a:srgbClr val="9FB3AA"/>
                </a:solidFill>
              </a:rPr>
              <a:t>selection 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96D73-A1B2-4E5D-AD83-0B1F900D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73930"/>
            <a:ext cx="7655242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A9B23-C07F-47EF-858A-D27C37F5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720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Validation R2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A96C4-79DD-4CF7-B588-DF10E1AE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7200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B8FFE4"/>
                </a:solidFill>
              </a:defRPr>
            </a:pPr>
            <a:r>
              <a:rPr sz="3225" b="1">
                <a:solidFill>
                  <a:srgbClr val="B8FFE4"/>
                </a:solidFill>
              </a:rPr>
              <a:t>0.993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6CC2B-F90C-456C-B35D-EBDAFDDB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86450"/>
            <a:ext cx="720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FB3AA"/>
                </a:solidFill>
              </a:defRPr>
            </a:pPr>
            <a:r>
              <a:rPr sz="1425" b="0">
                <a:solidFill>
                  <a:srgbClr val="9FB3AA"/>
                </a:solidFill>
              </a:rPr>
              <a:t>fit on held-out time split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FC1C6-2BA4-49F8-89F5-CD25CAA3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59880"/>
            <a:ext cx="7655242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A01FE-583C-4718-A86B-52A71D2A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96100"/>
            <a:ext cx="7124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6FBF8"/>
                </a:solidFill>
              </a:defRPr>
            </a:pPr>
            <a:r>
              <a:rPr sz="2100" b="1">
                <a:solidFill>
                  <a:srgbClr val="F6FBF8"/>
                </a:solidFill>
              </a:rPr>
              <a:t>Validation approach: chronological 80/20 split. The feature pipeline avoids future target leakage.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59A25-E2F6-4311-8909-18C42A66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643" y="2887980"/>
            <a:ext cx="8461058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77E1F-6A50-48EA-8867-224DB8D7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7886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BF8"/>
                </a:solidFill>
              </a:defRPr>
            </a:pPr>
            <a:r>
              <a:rPr sz="2400" b="1">
                <a:solidFill>
                  <a:srgbClr val="F6FBF8"/>
                </a:solidFill>
              </a:rPr>
              <a:t>Validation score snapshot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7E0BE2-9D4E-4119-8797-1AF9376A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576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R2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9AF3B-3AFC-4BE1-AE12-35B9B997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592" y="365379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00D98-A480-47AC-9FE6-2C03AD98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576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E4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322100-EBC3-4F91-B34C-1C8B4D2D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365760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FFE4"/>
                </a:solidFill>
              </a:defRPr>
            </a:pPr>
            <a:r>
              <a:rPr sz="1425" b="1">
                <a:solidFill>
                  <a:srgbClr val="B8FFE4"/>
                </a:solidFill>
              </a:rPr>
              <a:t>0.993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ACD743-EE49-493D-9B58-CD59031C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291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RMSE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AC493E-6635-4AED-8E98-DE57CFB5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592" y="422529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8033C5-526F-46AC-A592-4AB0C211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B52795-B6A8-44F1-87A7-EDCFA243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422910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7F3C2"/>
                </a:solidFill>
              </a:defRPr>
            </a:pPr>
            <a:r>
              <a:rPr sz="1425" b="1">
                <a:solidFill>
                  <a:srgbClr val="67F3C2"/>
                </a:solidFill>
              </a:rPr>
              <a:t>0.446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807EA7-E04A-47A0-8D86-E9A8E76D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006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MAE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8732A0-176D-4385-8F9A-86395E8D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592" y="479679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AAA0F3-4EC9-4CD5-9B1C-2942F700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00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98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473BC4-32FA-4E21-9F08-91D54D9B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480060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D998"/>
                </a:solidFill>
              </a:defRPr>
            </a:pPr>
            <a:r>
              <a:rPr sz="1425" b="1">
                <a:solidFill>
                  <a:srgbClr val="20D998"/>
                </a:solidFill>
              </a:rPr>
              <a:t>0.323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F1017B-CD8B-4FAB-916D-3A07C4D0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72100"/>
            <a:ext cx="788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8"/>
          </a:solidFill>
          <a:ln xmlns:a="http://schemas.openxmlformats.org/drawingml/2006/main" w="0">
            <a:solidFill>
              <a:srgbClr val="2444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F56122-CF23-4DF6-824B-96F8ECCD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05450"/>
            <a:ext cx="788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FB3AA"/>
                </a:solidFill>
              </a:defRPr>
            </a:pPr>
            <a:r>
              <a:rPr sz="1800" b="0">
                <a:solidFill>
                  <a:srgbClr val="9FB3AA"/>
                </a:solidFill>
              </a:rPr>
              <a:t>Trained model artifact: models/heatguard_model.joblib</a:t>
            </a:r>
          </a:p>
        </p:txBody>
      </p:sp>
    </p:spTree>
    <p:extLst>
      <p:ext uri="{BB962C8B-B14F-4D97-AF65-F5344CB8AC3E}">
        <p14:creationId xmlns:p14="http://schemas.microsoft.com/office/powerpoint/2010/main" val="5080840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51F3CF66-1D8B-448F-A165-B6028636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F90E7A6-C158-411A-A922-60C0BF9A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DASHBOARD EXPERIENCE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8E0CAB-995D-4503-8AFD-AE1F2222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A judge-friendly interface focused on action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001F08C-5EF8-4389-A928-027F7775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0629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The UI keeps only what matters: location, forecast horizon, risk level, forecast chart, explanation, and advisory.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C88B6E3-2B88-44CA-B1D1-40FFB388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6BD14-E3B1-4186-9DF3-3BEC16B7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10084594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27D06-6B6A-4201-AACD-1897733B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5943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D462F-209D-4D59-B6D6-FF59C96A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7F3C2"/>
                </a:solidFill>
              </a:defRPr>
            </a:pPr>
            <a:r>
              <a:rPr sz="1800" b="1">
                <a:solidFill>
                  <a:srgbClr val="67F3C2"/>
                </a:solidFill>
              </a:rPr>
              <a:t>HG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3F875-A38E-408C-BAB2-406F3305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67050"/>
            <a:ext cx="7086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8"/>
                </a:solidFill>
              </a:defRPr>
            </a:pPr>
            <a:r>
              <a:rPr sz="2850" b="1">
                <a:solidFill>
                  <a:srgbClr val="F6FBF8"/>
                </a:solidFill>
              </a:rPr>
              <a:t>HeatGuard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85C6F-EAD2-4153-9391-92CEDD61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4330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7F3C2"/>
                </a:solidFill>
              </a:defRPr>
            </a:pPr>
            <a:r>
              <a:rPr sz="1575" b="1">
                <a:solidFill>
                  <a:srgbClr val="67F3C2"/>
                </a:solidFill>
              </a:rPr>
              <a:t>10-Day Wet-Bulb Heat Risk Forecasting &amp; Action Intelligence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8BF02-56E9-4715-8ED8-80A239C7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194" y="3059430"/>
            <a:ext cx="1524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13F38-CF0F-4455-BCAE-80ABABEE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623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Track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1A326-A1E8-4814-8D58-C4D8A346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97630"/>
            <a:ext cx="3082131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DE1EA-3686-496A-9C8C-A8AA3D4B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9550"/>
            <a:ext cx="270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Peak WBT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EFB9E-775B-4BD6-B1F7-87C92C49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2705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17.2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3CD4D-AD9C-405E-9CDE-E401C71F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05350"/>
            <a:ext cx="270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Day 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C951B-BAEA-4D45-92D2-314E431F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531" y="3897630"/>
            <a:ext cx="3082131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93D8E-39B0-4CF5-9CD8-B8AA91EF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19550"/>
            <a:ext cx="270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Risk Level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FA29F-7293-4ECF-BB09-6DAC9A57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2705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D998"/>
                </a:solidFill>
              </a:defRPr>
            </a:pPr>
            <a:r>
              <a:rPr sz="2550" b="1">
                <a:solidFill>
                  <a:srgbClr val="20D998"/>
                </a:solidFill>
              </a:rPr>
              <a:t>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886CA-DED9-4069-80FB-00CC6A5A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05350"/>
            <a:ext cx="270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WBT threshold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E9FD2-0418-4CFA-BB43-B125BDEB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063" y="3897630"/>
            <a:ext cx="3082131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D9B8F-F156-4A6B-B391-C865F263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9550"/>
            <a:ext cx="270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Reliability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0A6FE-9D00-4F15-8440-E8DB027F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67200"/>
            <a:ext cx="2705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8FFE4"/>
                </a:solidFill>
              </a:defRPr>
            </a:pPr>
            <a:r>
              <a:rPr sz="2550" b="1">
                <a:solidFill>
                  <a:srgbClr val="B8FFE4"/>
                </a:solidFill>
              </a:rPr>
              <a:t>96%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212EE-298D-498A-A471-7C424BD4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270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validation-derived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EA1A8-D62A-4DFD-9EED-23D4C8E7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3030"/>
            <a:ext cx="9551194" cy="431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0D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184C57-B7C6-4379-92FB-63801A67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29250"/>
            <a:ext cx="901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6FBF8"/>
                </a:solidFill>
              </a:defRPr>
            </a:pPr>
            <a:r>
              <a:rPr sz="2025" b="1">
                <a:solidFill>
                  <a:srgbClr val="F6FBF8"/>
                </a:solidFill>
              </a:rPr>
              <a:t>10-Day Wet-Bulb Forecast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7BFDA0-54F0-4683-9A56-099E8A26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06440"/>
            <a:ext cx="225444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3F92F7-76B2-4986-B394-7AD240B2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245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FFE4"/>
                </a:solidFill>
              </a:defRPr>
            </a:pPr>
            <a:r>
              <a:rPr sz="1350" b="0">
                <a:solidFill>
                  <a:srgbClr val="B8FFE4"/>
                </a:solidFill>
              </a:rPr>
              <a:t>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4E627B-26D0-4C84-9897-F264A542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148" y="5806440"/>
            <a:ext cx="225444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526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5834AE-999C-46E9-BB0B-7E31E013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9245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FFE4"/>
                </a:solidFill>
              </a:defRPr>
            </a:pPr>
            <a:r>
              <a:rPr sz="1350" b="0">
                <a:solidFill>
                  <a:srgbClr val="B8FFE4"/>
                </a:solidFill>
              </a:rPr>
              <a:t>Moderate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3D6405-7D3E-4FBF-B660-A1267CD7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597" y="5806440"/>
            <a:ext cx="225444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714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8433A7-69C3-4F42-9BA2-1C42AE05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9245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High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49FE13-7358-4E2B-B41D-0C5420F0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3045" y="5806440"/>
            <a:ext cx="225444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1919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2BC672-A58A-49F5-91E7-0161E1FB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245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Extreme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3F33A7-F65F-49EB-B4FB-1A4A2E95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4198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Day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0BE173-4458-49D1-8C9D-77F67F0F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41604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87F57E-810E-4E0D-9124-8C126490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400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680539-7EF8-475C-A615-035F075C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41985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7F3C2"/>
                </a:solidFill>
              </a:defRPr>
            </a:pPr>
            <a:r>
              <a:rPr sz="1425" b="1">
                <a:solidFill>
                  <a:srgbClr val="67F3C2"/>
                </a:solidFill>
              </a:rPr>
              <a:t>15.6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DEA38A-3538-4B66-9545-30A442B0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9532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Day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433D0B-2BFF-4262-9A4A-7BA2F4A6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94944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986643-1EB8-461D-8994-4D656E06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9342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23503E-33CD-48BD-923F-A38205D9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95325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7F3C2"/>
                </a:solidFill>
              </a:defRPr>
            </a:pPr>
            <a:r>
              <a:rPr sz="1425" b="1">
                <a:solidFill>
                  <a:srgbClr val="67F3C2"/>
                </a:solidFill>
              </a:rPr>
              <a:t>15.3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1D4076-C8C2-484E-820A-C3809554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4866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Day 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CB9B77-6EE2-479C-B0D6-CB46ADCA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748284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545D77-E3B7-47D5-AE91-68984838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467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6F1D5A-4D9A-4998-88FB-25DF1C93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48665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7F3C2"/>
                </a:solidFill>
              </a:defRPr>
            </a:pPr>
            <a:r>
              <a:rPr sz="1425" b="1">
                <a:solidFill>
                  <a:srgbClr val="67F3C2"/>
                </a:solidFill>
              </a:rPr>
              <a:t>13.4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106F20-B23D-4F2E-B198-62C0C456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0200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Day 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4765B7-A414-4CBA-ACA5-9A17DED3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801624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A6BEEF-3038-4A33-9698-7884F496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0010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E4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051BEC-4698-410B-98EB-20B337EE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802005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FFE4"/>
                </a:solidFill>
              </a:defRPr>
            </a:pPr>
            <a:r>
              <a:rPr sz="1425" b="1">
                <a:solidFill>
                  <a:srgbClr val="B8FFE4"/>
                </a:solidFill>
              </a:rPr>
              <a:t>17.2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15B309-02C5-43F5-977C-6FF8CA8B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5534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Day 10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BDD20A-372A-44D3-90D4-52EC20F2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854964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5A4AB0-7A53-48B7-AE94-DF1EEC39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534400"/>
            <a:ext cx="2714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547086-A977-4AB1-9860-55960E4F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855345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7F3C2"/>
                </a:solidFill>
              </a:defRPr>
            </a:pPr>
            <a:r>
              <a:rPr sz="1425" b="1">
                <a:solidFill>
                  <a:srgbClr val="67F3C2"/>
                </a:solidFill>
              </a:rPr>
              <a:t>16.3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43A2F-947D-4644-837E-A4D2D7A7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0944" y="288798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55BC3E-02E7-49A8-80CC-52C032A9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0289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01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2E1F43-032F-4775-8CAC-86A7FABF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895600"/>
            <a:ext cx="516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Input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D2D6D5-D7BA-4B5C-9DE7-519FB298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295650"/>
            <a:ext cx="516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Select Kaggle grid/location and forecast anchor day.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5ABC5C-5C96-427B-BA63-F48C6410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0944" y="382143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4C30B9-0464-41CA-AC00-7C010B2D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96240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02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BDBAAEC-5FEB-4111-99FF-809F30A1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829050"/>
            <a:ext cx="516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Forecast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C5DB60-E64B-4CD9-A57B-B4BC40CF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229100"/>
            <a:ext cx="516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Interactive 10-day WBT risk visualization.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BA07C4-97AC-40E8-B578-DE4BDFDA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0944" y="475488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70BB624-0A79-49B8-A8F7-3A7EDCF7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8958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03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2CE1C1-A693-4B4A-8101-33EF2CC7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762500"/>
            <a:ext cx="516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Explain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89ED9E5-C254-4D33-89AD-EBA3E09B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162550"/>
            <a:ext cx="516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Plain-English feature-driver summary.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9900B31-BBF1-423F-ADAC-366C899A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0944" y="568833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FB444F0-5A22-48CC-94D4-B0755672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82930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04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5AB4ACF-7F36-426B-B574-FDD8D384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695950"/>
            <a:ext cx="516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Advise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100544B-ABA6-4E57-8865-6A4A2372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096000"/>
            <a:ext cx="516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Audience-specific heat action plan.</a:t>
            </a:r>
          </a:p>
        </p:txBody>
      </p:sp>
    </p:spTree>
    <p:extLst>
      <p:ext uri="{BB962C8B-B14F-4D97-AF65-F5344CB8AC3E}">
        <p14:creationId xmlns:p14="http://schemas.microsoft.com/office/powerpoint/2010/main" val="5902661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A4054F2B-B9B9-4350-AAF3-17ED5A5D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18775788-CC86-45F2-ADC3-715D6DB5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GENAI ADVISORY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E5CE3B-06DA-445E-AC67-44573CF6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Forecasts become operational recommendations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E9D28B6-21DF-45B0-AA7F-6CCE42EA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11252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Gemini powers structured advice when GEMINI_API_KEY is configured; a rule-based fallback keeps the app reliable.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8016AC54-820D-414B-9969-452391A3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A59D3-9E04-4DBE-8419-BB5530A2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8874443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B536A-4DF8-4BCF-91AD-58DBD5DC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5468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C0377-B0FA-478A-B365-6BEC667E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57550"/>
            <a:ext cx="2114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25F55-944B-4B02-83C8-AF55B8B6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5468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3B025-728A-4DAB-83B2-54502C9A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575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Recommended action focus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8BB10-56F0-44FA-9421-3FC774CC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428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492AA-251B-4409-AB52-873DB8F0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2114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Citizens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3429D-0AFB-4D4C-95E0-6B59388B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6428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2EAB9-A05F-4F86-AC2A-DF8B740A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671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Hydration, shade, symptom awareness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24FAE-B8C2-4360-BA47-59427A36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198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8A732-9396-405B-89A6-28D9F8A3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14850"/>
            <a:ext cx="2114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Hospitals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4A248-C04F-48FD-9FAA-B299015A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1198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3F73E-C351-4911-9A71-08136882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148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Readiness, triage, cooling capacity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687B5-6AC7-4600-8407-9C25BAF3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5968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0A319-ACCE-4234-B9F7-114770F3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62550"/>
            <a:ext cx="2114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Schools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C49AF-4FAC-4D79-AA66-50D36A50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5968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99BCC3-A7A2-4DA3-A2AF-AFA1CA82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625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Outdoor activity adjustment, hydration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166638-87E9-4104-83AA-CE5E7C92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0738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7F263-5A91-4127-A4ED-7B9FD9AF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10250"/>
            <a:ext cx="2114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Workers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64A66-6AF6-4FD9-B090-75A6EF8F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0738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1D270-3D8E-4FE1-89E1-3AD3001C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8102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Rest cycles, shaded breaks, supervisor 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ADB988-0DA8-4872-A217-B409A1EE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5508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D65D15-FCD5-41B9-B322-40D8A246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457950"/>
            <a:ext cx="2114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Authorities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6C7222-B4D2-46DD-AF7A-6C38398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35508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68B6B1-9748-4743-B8A7-BAE90537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4579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Messaging, shelters, water points, surge planning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0DBDC5-4D2B-4AB1-951B-A63E88F7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93" y="2887980"/>
            <a:ext cx="7260908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DAD19F-52B6-43E1-AE96-2F209231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86100"/>
            <a:ext cx="6800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Gemini model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7B476E-A5F2-423D-83F9-D55B39CC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90900"/>
            <a:ext cx="6800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67F3C2"/>
                </a:solidFill>
              </a:defRPr>
            </a:pPr>
            <a:r>
              <a:rPr sz="3225" b="1">
                <a:solidFill>
                  <a:srgbClr val="67F3C2"/>
                </a:solidFill>
              </a:rPr>
              <a:t>gemini-1.5-flash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F37FD6-3CE1-4062-B618-C305FBB3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0"/>
            <a:ext cx="6800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FB3AA"/>
                </a:solidFill>
              </a:defRPr>
            </a:pPr>
            <a:r>
              <a:rPr sz="1425" b="0">
                <a:solidFill>
                  <a:srgbClr val="9FB3AA"/>
                </a:solidFill>
              </a:rPr>
              <a:t>loaded from env secret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F36E23-C298-4CBC-AF72-114C4B6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93" y="4792980"/>
            <a:ext cx="7260908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78A605-8EB3-464B-BD65-A5D22093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91100"/>
            <a:ext cx="6800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Fallback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72A8D0-8BDD-4E54-BBCF-71E1BF7E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95900"/>
            <a:ext cx="6800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B8FFE4"/>
                </a:solidFill>
              </a:defRPr>
            </a:pPr>
            <a:r>
              <a:rPr sz="3225" b="1">
                <a:solidFill>
                  <a:srgbClr val="B8FFE4"/>
                </a:solidFill>
              </a:rPr>
              <a:t>Rule-based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7FD064-A720-4F13-B971-4BC5FBD5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905500"/>
            <a:ext cx="6800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FB3AA"/>
                </a:solidFill>
              </a:defRPr>
            </a:pPr>
            <a:r>
              <a:rPr sz="1425" b="0">
                <a:solidFill>
                  <a:srgbClr val="9FB3AA"/>
                </a:solidFill>
              </a:rPr>
              <a:t>runs when key is missing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2BA25C-7B60-457C-9E72-C94417A6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93" y="6697980"/>
            <a:ext cx="7260908" cy="297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F1F0A9-599F-470F-A6F4-B2BB0AB3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953250"/>
            <a:ext cx="6724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6FBF8"/>
                </a:solidFill>
              </a:defRPr>
            </a:pPr>
            <a:r>
              <a:rPr sz="2325" b="1">
                <a:solidFill>
                  <a:srgbClr val="F6FBF8"/>
                </a:solidFill>
              </a:rPr>
              <a:t>Safety guardrails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1BA774-C061-440C-A588-C2444796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7429500"/>
            <a:ext cx="6724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FB3AA"/>
                </a:solidFill>
              </a:defRPr>
            </a:pPr>
            <a:r>
              <a:rPr sz="2025" b="1">
                <a:solidFill>
                  <a:srgbClr val="9FB3AA"/>
                </a:solidFill>
              </a:rPr>
              <a:t>No fake government alerts. Recommendations mention uncertainty and remain practical for the selected risk level.</a:t>
            </a:r>
          </a:p>
        </p:txBody>
      </p:sp>
    </p:spTree>
    <p:extLst>
      <p:ext uri="{BB962C8B-B14F-4D97-AF65-F5344CB8AC3E}">
        <p14:creationId xmlns:p14="http://schemas.microsoft.com/office/powerpoint/2010/main" val="2407535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27AE52C0-6EED-4270-9ECA-B0A3D355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9D6FEDA-DD1D-45D6-9B36-FEF8F929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FINAL SUBMISSION PACKAGE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A8353C-E40D-4BBC-8311-99150C4A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What goes where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7B71809-E027-42A2-99F1-44F58E25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0344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The project separates scoring artifacts, code repository, deployment files, and judge-facing demo materials.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B607E13-F5A5-4519-8CB9-DCB9F45D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BD959-3BD5-4C78-871F-837519EC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16535400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70EE6-D3FD-4030-8029-0B980D99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7373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27FD2-7EBE-4D29-889B-48C97206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76600"/>
            <a:ext cx="287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Destination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9DE29-45CB-4C6B-AEB9-D9B1A55B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7373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60AB7-91F7-4F4C-8E2A-FF3FE629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Upload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B21C9-E2FE-4FDB-9C74-5D06F985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7373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4097E-F010-4BC9-B8D0-EFF79C5A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7660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Notes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58AF4-8663-4588-B8F7-64383980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0238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010F9-547F-44C0-A4E2-30B5B9E4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287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Kaggle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A837F-573C-488A-B5AB-739ACBE5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0238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F61E5-EB95-4A8E-81B8-249194A2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submission.csv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C6F66-7D27-444A-960C-FC5636EB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0238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317A6-FE58-4A41-BC72-8311387F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0525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Leaderboard scoring file with row_id and target_day_1...10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A75C5-DC8E-4C5C-980F-C842ACCF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438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2D2EB6-B09A-4E37-9196-13E752EE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67250"/>
            <a:ext cx="287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GitHub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C89DB-A575-46BB-AE73-EE25CCB5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6438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9720D-2E34-4F1D-B94B-0473F25F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672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source code + README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BBAA0-B910-461F-88BE-8D139B67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6438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F329AE-9E8B-4B21-99A1-5F60426E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6725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Do not commit .env, Kaggle CSVs, or large model without LFS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BE9F55-2569-450A-83BC-98804C43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2638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D7A2D6-82DC-442C-848A-613AC78E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29250"/>
            <a:ext cx="287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Hugging Face Spaces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CA1669-2166-44F1-998D-FF62A3C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2638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CB52B0-1EC1-47AC-951B-525D6752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292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app.py, src, assets, model artifacts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294643-99E6-4C12-9CFE-9E6A6FD1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32638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AD785E-C330-49E2-82B7-8CDBC727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2925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Add GEMINI_API_KEY as a Space secret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483B80-D084-4D23-BAB1-12A9F360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8838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014603-866F-4186-A399-46729DB2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191250"/>
            <a:ext cx="287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Judges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E67C7D-F129-4450-80F6-678EE9DE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08838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9CA777-89D1-499A-8685-FEE8CC3F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912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PPT + demo video + live link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01A8C0-AAA0-45E6-AAA9-553CE38A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08838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487355-2B2D-4751-909A-BB784D57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9125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Links to be added after GitHub and Hugging Face are created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EB2514-ABDB-4608-95C6-C701680B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50380"/>
            <a:ext cx="7867650" cy="2541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58D0D8-EE25-4594-9A32-FEA65CD0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05650"/>
            <a:ext cx="7334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FFE4"/>
                </a:solidFill>
              </a:defRPr>
            </a:pPr>
            <a:r>
              <a:rPr sz="2250" b="1">
                <a:solidFill>
                  <a:srgbClr val="B8FFE4"/>
                </a:solidFill>
              </a:rPr>
              <a:t>GitHub link: &lt;add after upload&gt;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3F8F58-6E38-47D0-9820-08AB349C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850380"/>
            <a:ext cx="7867650" cy="2541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234982-AD3F-44E2-A882-FE331F1B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105650"/>
            <a:ext cx="7334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FFE4"/>
                </a:solidFill>
              </a:defRPr>
            </a:pPr>
            <a:r>
              <a:rPr sz="2250" b="1">
                <a:solidFill>
                  <a:srgbClr val="B8FFE4"/>
                </a:solidFill>
              </a:rPr>
              <a:t>Hugging Face link: &lt;add after deploy&gt;</a:t>
            </a:r>
          </a:p>
        </p:txBody>
      </p:sp>
    </p:spTree>
    <p:extLst>
      <p:ext uri="{BB962C8B-B14F-4D97-AF65-F5344CB8AC3E}">
        <p14:creationId xmlns:p14="http://schemas.microsoft.com/office/powerpoint/2010/main" val="1539197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E99020A0-9B82-455E-9AC4-9D98F80E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FBAEB80-4293-4878-801E-CD6F6BA6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WHY HEATGUARD AI CAN WIN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187958-FBE8-4DE3-9E36-74D2068A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Accurate forecast, interpretable risk, deployable action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F11954FF-0091-44B3-A2FE-4F16DCAE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04203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The project demonstrates the complete path from Kaggle-grade forecasting to climate-risk decision support.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7FB080E-ABDA-4BC9-8C44-F3600DCC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53647-7CF7-46BA-95F5-FE115D54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5346700" cy="4208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F80C8-0B03-487C-84A2-DB1A1968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7F3C2"/>
                </a:solidFill>
              </a:defRPr>
            </a:pPr>
            <a:r>
              <a:rPr sz="1800" b="1">
                <a:solidFill>
                  <a:srgbClr val="67F3C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D42E5-6272-4CAC-B6BE-C4E39802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4781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8"/>
                </a:solidFill>
              </a:defRPr>
            </a:pPr>
            <a:r>
              <a:rPr sz="2850" b="1">
                <a:solidFill>
                  <a:srgbClr val="F6FBF8"/>
                </a:solidFill>
              </a:rPr>
              <a:t>Strong ML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E6589-061B-4B06-B66D-89701501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4781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Time-aware validation, 237 engineered features, and saved reusable model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4A23E-B767-4F54-ABF6-6667DACF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2887980"/>
            <a:ext cx="5346700" cy="4208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8E72C-63AC-42AB-8659-2AF73EDE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7F3C2"/>
                </a:solidFill>
              </a:defRPr>
            </a:pPr>
            <a:r>
              <a:rPr sz="1800" b="1">
                <a:solidFill>
                  <a:srgbClr val="67F3C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B98DE-38EF-4852-8465-45CF7CF1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4781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8"/>
                </a:solidFill>
              </a:defRPr>
            </a:pPr>
            <a:r>
              <a:rPr sz="2850" b="1">
                <a:solidFill>
                  <a:srgbClr val="F6FBF8"/>
                </a:solidFill>
              </a:rPr>
              <a:t>Decision 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BA1C4-7BB1-42C5-8F53-50EE6042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781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Risk categories, model explanation, and audience-specific advisories.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E2F60-0AF8-4A03-96C0-C7B1EB47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2887980"/>
            <a:ext cx="5346700" cy="4208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1E47F-363C-4A55-A809-E81BA1E8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16230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7F3C2"/>
                </a:solidFill>
              </a:defRPr>
            </a:pPr>
            <a:r>
              <a:rPr sz="1800" b="1">
                <a:solidFill>
                  <a:srgbClr val="67F3C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BAE52-2ECE-4039-920C-CD5FEC9D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619500"/>
            <a:ext cx="4781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8"/>
                </a:solidFill>
              </a:defRPr>
            </a:pPr>
            <a:r>
              <a:rPr sz="2850" b="1">
                <a:solidFill>
                  <a:srgbClr val="F6FBF8"/>
                </a:solidFill>
              </a:rPr>
              <a:t>Demo-ready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31A12-DDDD-4A94-9483-97254376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248150"/>
            <a:ext cx="4781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Streamlit UI, Gemini integration, GitHub-ready repo, and HF deployment support.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6A3CB-D8BE-41D3-A173-9A6FC48E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62886"/>
            <a:ext cx="16535400" cy="23145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38E6B0-A552-4471-9F4C-0FCDA927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639050"/>
            <a:ext cx="257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6FBF8"/>
                </a:solidFill>
              </a:defRPr>
            </a:pPr>
            <a:r>
              <a:rPr sz="2325" b="1">
                <a:solidFill>
                  <a:srgbClr val="F6FBF8"/>
                </a:solidFill>
              </a:rPr>
              <a:t>Final demo flow: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17081-5AFF-4430-8584-A136E2DA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639050"/>
            <a:ext cx="1310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FFE4"/>
                </a:solidFill>
              </a:defRPr>
            </a:pPr>
            <a:r>
              <a:rPr sz="2250" b="1">
                <a:solidFill>
                  <a:srgbClr val="B8FFE4"/>
                </a:solidFill>
              </a:rPr>
              <a:t>select location -&gt; view forecast -&gt; inspect risk -&gt; generate advisory -&gt; show deployment links</a:t>
            </a:r>
          </a:p>
        </p:txBody>
      </p:sp>
    </p:spTree>
    <p:extLst>
      <p:ext uri="{BB962C8B-B14F-4D97-AF65-F5344CB8AC3E}">
        <p14:creationId xmlns:p14="http://schemas.microsoft.com/office/powerpoint/2010/main" val="1345762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2026-05-13T23:12:54.1590000Z</dcterms:created>
  <dcterms:modified xsi:type="dcterms:W3CDTF">2026-05-13T23:12:54.1590000Z</dcterms:modified>
</coreProperties>
</file>