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3ac849ad87449c" /><Relationship Type="http://schemas.openxmlformats.org/officeDocument/2006/relationships/extended-properties" Target="/docProps/app.xml" Id="Rca5d3072a6264de5" /><Relationship Type="http://schemas.openxmlformats.org/officeDocument/2006/relationships/officeDocument" Target="/ppt/presentation.xml" Id="R45b435f5fe2546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2d8522ed8476c"/>
  </p:sldMasterIdLst>
  <p:notesMasterIdLst>
    <p:notesMasterId xmlns:r="http://schemas.openxmlformats.org/officeDocument/2006/relationships" r:id="R822782b0f36347d3"/>
  </p:notesMasterIdLst>
  <p:sldIdLst>
    <p:sldId xmlns:r="http://schemas.openxmlformats.org/officeDocument/2006/relationships" id="256" r:id="Rec8a50113081443c"/>
    <p:sldId xmlns:r="http://schemas.openxmlformats.org/officeDocument/2006/relationships" id="257" r:id="R477d1068050f4ea9"/>
    <p:sldId xmlns:r="http://schemas.openxmlformats.org/officeDocument/2006/relationships" id="258" r:id="R190be3a322e641dc"/>
    <p:sldId xmlns:r="http://schemas.openxmlformats.org/officeDocument/2006/relationships" id="259" r:id="R11d9ae1e162846dc"/>
    <p:sldId xmlns:r="http://schemas.openxmlformats.org/officeDocument/2006/relationships" id="260" r:id="R6fb64a8d0da1448f"/>
    <p:sldId xmlns:r="http://schemas.openxmlformats.org/officeDocument/2006/relationships" id="261" r:id="R0603e2ccc9214527"/>
    <p:sldId xmlns:r="http://schemas.openxmlformats.org/officeDocument/2006/relationships" id="262" r:id="Rbf5a3ab3e3a94ecc"/>
    <p:sldId xmlns:r="http://schemas.openxmlformats.org/officeDocument/2006/relationships" id="263" r:id="R11a32a134a1f4b62"/>
    <p:sldId xmlns:r="http://schemas.openxmlformats.org/officeDocument/2006/relationships" id="264" r:id="R0c25f306f90a4032"/>
    <p:sldId xmlns:r="http://schemas.openxmlformats.org/officeDocument/2006/relationships" id="265" r:id="Rd43a978eb2d24779"/>
    <p:sldId xmlns:r="http://schemas.openxmlformats.org/officeDocument/2006/relationships" id="266" r:id="R2a1575e4c4c44665"/>
    <p:sldId xmlns:r="http://schemas.openxmlformats.org/officeDocument/2006/relationships" id="267" r:id="R1d31bc759fea4c39"/>
    <p:sldId xmlns:r="http://schemas.openxmlformats.org/officeDocument/2006/relationships" id="268" r:id="Red357d6fe8f3427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2d8522ed8476c" /><Relationship Type="http://schemas.openxmlformats.org/officeDocument/2006/relationships/theme" Target="/ppt/theme/theme1.xml" Id="Ra445de476547429f" /><Relationship Type="http://schemas.openxmlformats.org/officeDocument/2006/relationships/notesMaster" Target="/ppt/notesMasters/notesMaster1.xml" Id="R822782b0f36347d3" /><Relationship Type="http://schemas.openxmlformats.org/officeDocument/2006/relationships/presProps" Target="/ppt/presProps.xml" Id="R3b3caaee02e648e1" /><Relationship Type="http://schemas.openxmlformats.org/officeDocument/2006/relationships/viewProps" Target="/ppt/viewProps.xml" Id="Rb0429c2deb744ccc" /><Relationship Type="http://schemas.openxmlformats.org/officeDocument/2006/relationships/tableStyles" Target="/ppt/tableStyles.xml" Id="Rdc73ab285b5f42fd" /><Relationship Type="http://schemas.openxmlformats.org/officeDocument/2006/relationships/slide" Target="/ppt/slides/slide1.xml" Id="Rec8a50113081443c" /><Relationship Type="http://schemas.openxmlformats.org/officeDocument/2006/relationships/slide" Target="/ppt/slides/slide2.xml" Id="R477d1068050f4ea9" /><Relationship Type="http://schemas.openxmlformats.org/officeDocument/2006/relationships/slide" Target="/ppt/slides/slide3.xml" Id="R190be3a322e641dc" /><Relationship Type="http://schemas.openxmlformats.org/officeDocument/2006/relationships/slide" Target="/ppt/slides/slide4.xml" Id="R11d9ae1e162846dc" /><Relationship Type="http://schemas.openxmlformats.org/officeDocument/2006/relationships/slide" Target="/ppt/slides/slide5.xml" Id="R6fb64a8d0da1448f" /><Relationship Type="http://schemas.openxmlformats.org/officeDocument/2006/relationships/slide" Target="/ppt/slides/slide6.xml" Id="R0603e2ccc9214527" /><Relationship Type="http://schemas.openxmlformats.org/officeDocument/2006/relationships/slide" Target="/ppt/slides/slide7.xml" Id="Rbf5a3ab3e3a94ecc" /><Relationship Type="http://schemas.openxmlformats.org/officeDocument/2006/relationships/slide" Target="/ppt/slides/slide8.xml" Id="R11a32a134a1f4b62" /><Relationship Type="http://schemas.openxmlformats.org/officeDocument/2006/relationships/slide" Target="/ppt/slides/slide9.xml" Id="R0c25f306f90a4032" /><Relationship Type="http://schemas.openxmlformats.org/officeDocument/2006/relationships/slide" Target="/ppt/slides/slide10.xml" Id="Rd43a978eb2d24779" /><Relationship Type="http://schemas.openxmlformats.org/officeDocument/2006/relationships/slide" Target="/ppt/slides/slide11.xml" Id="R2a1575e4c4c44665" /><Relationship Type="http://schemas.openxmlformats.org/officeDocument/2006/relationships/slide" Target="/ppt/slides/slide12.xml" Id="R1d31bc759fea4c39" /><Relationship Type="http://schemas.openxmlformats.org/officeDocument/2006/relationships/slide" Target="/ppt/slides/slide13.xml" Id="Red357d6fe8f342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2509b3a36a740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872e015fcc4eb2" /><Relationship Type="http://schemas.openxmlformats.org/officeDocument/2006/relationships/notesMaster" Target="/ppt/notesMasters/notesMaster1.xml" Id="R8eaa3b1d89dc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2363f22f5746d1" /><Relationship Type="http://schemas.openxmlformats.org/officeDocument/2006/relationships/notesMaster" Target="/ppt/notesMasters/notesMaster1.xml" Id="R637e0ec438014f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bf5dd23bf049b8" /><Relationship Type="http://schemas.openxmlformats.org/officeDocument/2006/relationships/notesMaster" Target="/ppt/notesMasters/notesMaster1.xml" Id="Rc18aba73a9dc4e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3d1f67d71b455d" /><Relationship Type="http://schemas.openxmlformats.org/officeDocument/2006/relationships/notesMaster" Target="/ppt/notesMasters/notesMaster1.xml" Id="Raa1bea369a5e4d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b6de6133384360" /><Relationship Type="http://schemas.openxmlformats.org/officeDocument/2006/relationships/notesMaster" Target="/ppt/notesMasters/notesMaster1.xml" Id="Ra9023af1e55f46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4f8298621445a8" /><Relationship Type="http://schemas.openxmlformats.org/officeDocument/2006/relationships/notesMaster" Target="/ppt/notesMasters/notesMaster1.xml" Id="Rd653179a0a4c4d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a700a3809645a9" /><Relationship Type="http://schemas.openxmlformats.org/officeDocument/2006/relationships/notesMaster" Target="/ppt/notesMasters/notesMaster1.xml" Id="R84bf43826faf4d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590feb68564398" /><Relationship Type="http://schemas.openxmlformats.org/officeDocument/2006/relationships/notesMaster" Target="/ppt/notesMasters/notesMaster1.xml" Id="R1bf5f38d029743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ab427cc931481b" /><Relationship Type="http://schemas.openxmlformats.org/officeDocument/2006/relationships/notesMaster" Target="/ppt/notesMasters/notesMaster1.xml" Id="Ra8a9907b61174a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fb5dabdd764789" /><Relationship Type="http://schemas.openxmlformats.org/officeDocument/2006/relationships/notesMaster" Target="/ppt/notesMasters/notesMaster1.xml" Id="R8d4ea6f9b8b348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de47f422f74d4c" /><Relationship Type="http://schemas.openxmlformats.org/officeDocument/2006/relationships/notesMaster" Target="/ppt/notesMasters/notesMaster1.xml" Id="R05f8ffe437c842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e0d905535d47da" /><Relationship Type="http://schemas.openxmlformats.org/officeDocument/2006/relationships/notesMaster" Target="/ppt/notesMasters/notesMaster1.xml" Id="R9aa324c89aea4f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a1be190d6042a7" /><Relationship Type="http://schemas.openxmlformats.org/officeDocument/2006/relationships/notesMaster" Target="/ppt/notesMasters/notesMaster1.xml" Id="R21c1cdee73a848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4376edb43410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cf5af678a1044c9" /><Relationship Type="http://schemas.openxmlformats.org/officeDocument/2006/relationships/slideLayout" Target="/ppt/slideLayouts/slideLayout2.xml" Id="Rc21c67f24fa84b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1c67f24fa84b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b8cc9275844ef4" /><Relationship Type="http://schemas.openxmlformats.org/officeDocument/2006/relationships/notesSlide" Target="/ppt/notesSlides/notesSlide1.xml" Id="R465850e3de3840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766c3a3c7b44f6" /><Relationship Type="http://schemas.openxmlformats.org/officeDocument/2006/relationships/notesSlide" Target="/ppt/notesSlides/notesSlide2.xml" Id="R36f8bc05ca3c4a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f3173786794e71" /><Relationship Type="http://schemas.openxmlformats.org/officeDocument/2006/relationships/notesSlide" Target="/ppt/notesSlides/notesSlide3.xml" Id="Rffe5714d4f1b4c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506b133afe4d40" /><Relationship Type="http://schemas.openxmlformats.org/officeDocument/2006/relationships/notesSlide" Target="/ppt/notesSlides/notesSlide4.xml" Id="Ree7597f4262f49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f3ffd15f3d4e52" /><Relationship Type="http://schemas.openxmlformats.org/officeDocument/2006/relationships/notesSlide" Target="/ppt/notesSlides/notesSlide5.xml" Id="R03547dd8b4ab44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32a43416f24c3f" /><Relationship Type="http://schemas.openxmlformats.org/officeDocument/2006/relationships/notesSlide" Target="/ppt/notesSlides/notesSlide6.xml" Id="R31ada416f8c64b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3ac06d395d428f" /><Relationship Type="http://schemas.openxmlformats.org/officeDocument/2006/relationships/notesSlide" Target="/ppt/notesSlides/notesSlide7.xml" Id="R8edb628a61d749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ed298971274709" /><Relationship Type="http://schemas.openxmlformats.org/officeDocument/2006/relationships/notesSlide" Target="/ppt/notesSlides/notesSlide8.xml" Id="Ra42aeb110ecf46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4e0ddc935e4e76" /><Relationship Type="http://schemas.openxmlformats.org/officeDocument/2006/relationships/notesSlide" Target="/ppt/notesSlides/notesSlide9.xml" Id="R8e4e9c8a352a47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9d77e896fe4fa0" /><Relationship Type="http://schemas.openxmlformats.org/officeDocument/2006/relationships/notesSlide" Target="/ppt/notesSlides/notesSlide10.xml" Id="R798d451ba8374b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9a5f494a56467a" /><Relationship Type="http://schemas.openxmlformats.org/officeDocument/2006/relationships/notesSlide" Target="/ppt/notesSlides/notesSlide11.xml" Id="R97515736d08445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5a207449fb42dd" /><Relationship Type="http://schemas.openxmlformats.org/officeDocument/2006/relationships/notesSlide" Target="/ppt/notesSlides/notesSlide12.xml" Id="R026acb53941144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dbbf52be4e4d6b" /><Relationship Type="http://schemas.openxmlformats.org/officeDocument/2006/relationships/notesSlide" Target="/ppt/notesSlides/notesSlide13.xml" Id="R941157ceac6d42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33F17F7C-9A2F-44C0-8BFB-9FA4E7CA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BDF91-E87A-48DD-987E-D9D10A4B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123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FBB98-1ADE-4DBB-890E-C06093D6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6300"/>
            <a:ext cx="742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7F3C2"/>
                </a:solidFill>
              </a:defRPr>
            </a:pPr>
            <a:r>
              <a:rPr sz="2925" b="1">
                <a:solidFill>
                  <a:srgbClr val="67F3C2"/>
                </a:solidFill>
              </a:rPr>
              <a:t>HG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8C6C4-E30F-4DB2-8B4C-F9506CC9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335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FFE4"/>
                </a:solidFill>
              </a:defRPr>
            </a:pPr>
            <a:r>
              <a:rPr sz="1800" b="1">
                <a:solidFill>
                  <a:srgbClr val="B8FFE4"/>
                </a:solidFill>
              </a:rPr>
              <a:t>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F01FE-FA75-4C29-BAA4-3E4A3ECB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04850"/>
            <a:ext cx="1482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7F3C2"/>
                </a:solidFill>
              </a:defRPr>
            </a:pPr>
            <a:r>
              <a:rPr sz="1500" b="1">
                <a:solidFill>
                  <a:srgbClr val="67F3C2"/>
                </a:solidFill>
              </a:rPr>
              <a:t>IIIT LUCKNOW CLIMATE INTELLIGENCE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8F4CF-1FFD-48C6-BD57-250D3685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066800"/>
            <a:ext cx="14820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6FBF8"/>
                </a:solidFill>
              </a:defRPr>
            </a:pPr>
            <a:r>
              <a:rPr sz="6450" b="1">
                <a:solidFill>
                  <a:srgbClr val="F6FBF8"/>
                </a:solidFill>
              </a:rPr>
              <a:t>HeatGuard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4D0A0-A9CD-4568-8250-069B6777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90750"/>
            <a:ext cx="14820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10-Day Wet-Bulb Heat Risk Forecasting &amp; Action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511DA-687C-4D2A-AF63-9DA778D3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C5371-8C4E-4EA4-9881-B704DA60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1238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FB3AA"/>
                </a:solidFill>
              </a:defRPr>
            </a:pPr>
            <a:r>
              <a:rPr sz="2250" b="0">
                <a:solidFill>
                  <a:srgbClr val="9FB3AA"/>
                </a:solidFill>
              </a:rPr>
              <a:t>A deployable climate-intelligence platform that predicts dangerous wet-bulb heat, explains risk drivers, and generates audience-specific action advisories.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64580-1066-4728-AC10-3A4EEFB3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76725"/>
            <a:ext cx="3143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0859E-1E64-4F61-AE34-EBB2D880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1962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Track 1: WBT Forecasting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ED4EC-662A-4605-BF62-F03F0FCB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76725"/>
            <a:ext cx="2571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A9720-C059-4FF7-AB22-4ED78CC4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ML + Explainability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A763D-495C-4282-96B7-42B3C387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76725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6F537-0A0F-4BEB-AF1C-613F7DF5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8150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Gemini Advisory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87682-2B29-4BCD-A1CE-6F8BBF26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76725"/>
            <a:ext cx="2857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8682E-9A44-4216-BF2A-279DFD68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81500"/>
            <a:ext cx="161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Streamlit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3D4EE-78A0-4849-A407-A9C4DC9A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57775"/>
            <a:ext cx="5257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29362-68EE-485F-B88E-94686133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6FBF8"/>
                </a:solidFill>
              </a:defRPr>
            </a:pPr>
            <a:r>
              <a:rPr sz="2625" b="1">
                <a:solidFill>
                  <a:srgbClr val="F6FBF8"/>
                </a:solidFill>
              </a:rPr>
              <a:t>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641326-13E7-442B-BD55-8986B3D6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102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FB3AA"/>
                </a:solidFill>
              </a:defRPr>
            </a:pPr>
            <a:r>
              <a:rPr sz="1725" b="0">
                <a:solidFill>
                  <a:srgbClr val="9FB3AA"/>
                </a:solidFill>
              </a:rPr>
              <a:t>Predict 10 future wet-bulb values for each Kaggle row.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4EDFE-46C0-4DB1-BD9F-DEDEE003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57775"/>
            <a:ext cx="5257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8FD79-D625-432E-BB73-CEBFB8F2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959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6FBF8"/>
                </a:solidFill>
              </a:defRPr>
            </a:pPr>
            <a:r>
              <a:rPr sz="2625" b="1">
                <a:solidFill>
                  <a:srgbClr val="F6FBF8"/>
                </a:solidFill>
              </a:rPr>
              <a:t>Explain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D9DAC-885E-4F62-8634-47ED8B00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102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FB3AA"/>
                </a:solidFill>
              </a:defRPr>
            </a:pPr>
            <a:r>
              <a:rPr sz="1725" b="0">
                <a:solidFill>
                  <a:srgbClr val="9FB3AA"/>
                </a:solidFill>
              </a:rPr>
              <a:t>Show risk level, reliability, and driver explanation.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9EED1-675B-4B61-8576-B7DC3C63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057775"/>
            <a:ext cx="5257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9355B-3995-440E-A927-BB75CF34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2959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8FFE4"/>
                </a:solidFill>
              </a:defRPr>
            </a:pPr>
            <a:r>
              <a:rPr sz="2625" b="1">
                <a:solidFill>
                  <a:srgbClr val="B8FFE4"/>
                </a:solidFill>
              </a:rPr>
              <a:t>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A0625F-FE8F-49A0-AC59-CF1451F7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8102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FB3AA"/>
                </a:solidFill>
              </a:defRPr>
            </a:pPr>
            <a:r>
              <a:rPr sz="1725" b="0">
                <a:solidFill>
                  <a:srgbClr val="9FB3AA"/>
                </a:solidFill>
              </a:rPr>
              <a:t>Generate heat advisories for citizens and institutions.</a:t>
            </a:r>
          </a:p>
        </p:txBody>
      </p:sp>
    </p:spTree>
    <p:extLst>
      <p:ext uri="{BB962C8B-B14F-4D97-AF65-F5344CB8AC3E}">
        <p14:creationId xmlns:p14="http://schemas.microsoft.com/office/powerpoint/2010/main" val="1640486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ADBE0E54-9D8D-4304-85A3-0263E31B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A156A78-EA55-4924-B840-EFFA56D4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JUDGE REQUIREMENT COVERAGE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DB188D-0600-452A-97A1-12178DD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Everything the challenge asks for is represented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52CEC28-0BF6-4A1B-8556-121B4F0B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0572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HeatGuard AI is positioned as a complete deployable climate-intelligence system, not only a Kaggle notebook.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209E57C8-F8C0-4A05-B16E-E73D180F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8751E-6D48-4AAF-90FE-D2A7F2D1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16535400" cy="509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CF494-EDA4-4FA8-A464-6CFB202F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753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1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5CCD9-4E4A-42EF-A07F-A988A7B4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00400"/>
            <a:ext cx="971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7F3C2"/>
                </a:solidFill>
              </a:defRPr>
            </a:pPr>
            <a:r>
              <a:rPr sz="1125" b="1">
                <a:solidFill>
                  <a:srgbClr val="67F3C2"/>
                </a:solidFill>
              </a:rPr>
              <a:t>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5DC9C-0A8F-4CB3-AD14-466D071C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9753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1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D115C-7535-4E2B-807D-A742C8C5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00400"/>
            <a:ext cx="363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7F3C2"/>
                </a:solidFill>
              </a:defRPr>
            </a:pPr>
            <a:r>
              <a:rPr sz="1125" b="1">
                <a:solidFill>
                  <a:srgbClr val="67F3C2"/>
                </a:solidFill>
              </a:rPr>
              <a:t>Requirement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854E4-E493-4442-91EE-07EA7775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97530"/>
            <a:ext cx="676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1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EB30F-D53C-4914-915F-BB9ACDBC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6496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7F3C2"/>
                </a:solidFill>
              </a:defRPr>
            </a:pPr>
            <a:r>
              <a:rPr sz="1125" b="1">
                <a:solidFill>
                  <a:srgbClr val="67F3C2"/>
                </a:solidFill>
              </a:rPr>
              <a:t>HeatGuard AI 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C3D01-501D-4640-A3C9-AD6C7A8E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09753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1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DF0A3-C422-40B3-8FE2-CCC8F09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00400"/>
            <a:ext cx="2590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7F3C2"/>
                </a:solidFill>
              </a:defRPr>
            </a:pPr>
            <a:r>
              <a:rPr sz="1125" b="1">
                <a:solidFill>
                  <a:srgbClr val="67F3C2"/>
                </a:solidFill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1D416-B1E8-4B2E-9BDD-4CF9AD67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188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BCB9D-53DF-471F-B76E-75530BBB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971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MET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5D37C-3ECB-41A2-83D4-EB461084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1188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89714-331C-441A-A308-D3D364B8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14750"/>
            <a:ext cx="363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Track 1 forecast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8E3CD-BA4C-4004-906B-98A47451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1880"/>
            <a:ext cx="676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8FA61-E744-418A-8F15-2B7D5C5D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6496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Predicts target_day_1 through target_day_10 for each Kaggle test row.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13A11C-5E1A-4E26-B054-506E43A5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61188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C49A3-8A51-4247-9377-FB9574BF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714750"/>
            <a:ext cx="2590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submission.csv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2EDD6-C0DC-4CDC-961A-88F40F10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0243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B3FD1-CE7F-4EB0-9BE3-0B73F5D1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971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MET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6700DB-932A-48BB-A62B-EEE15A8A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0243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7F764C-FE58-4B2E-B79D-2573443F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05300"/>
            <a:ext cx="363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Strong ML pipeline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13C413-CAE6-4A4B-B195-E4F93EDD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02430"/>
            <a:ext cx="676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94EB78-1BE8-465C-B002-82A2F773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05300"/>
            <a:ext cx="6496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Reusable training, feature engineering, model selection, and saved artifacts.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B6E745-EECA-4EEA-9F3A-AB18E16A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20243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63BC08-3DE4-4690-8661-62395806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305300"/>
            <a:ext cx="2590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src/ + models/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C828F-176F-4CE2-BD31-DB2E8F13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298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63C13-C402-43B6-A53C-9D6DB936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95850"/>
            <a:ext cx="971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MET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E5A0D1-CF8F-4D8C-8D13-1239530C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9298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B5B946-C44C-4EB2-B905-4B3A0CC5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95850"/>
            <a:ext cx="363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Time-series validation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8DEDBF-E8CE-4B9F-9B39-942250A1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92980"/>
            <a:ext cx="676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2D0DF3-542C-43BF-AAA6-562655D9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95850"/>
            <a:ext cx="6496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Chronological split with shifted future labels and no target leakage.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5BE871-16BD-45D8-98C4-7D19FD7E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79298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D26DA3-540C-459D-B48E-F3F56C40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895850"/>
            <a:ext cx="2590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metrics.json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B0A574-A0B1-4C15-9DF9-170456D4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353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F00DB3-5A51-45D2-BA9A-7614D79A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86400"/>
            <a:ext cx="971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MET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B600FE-1B54-43A2-8A9C-09FC5E27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8353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E693AC-9554-4BC8-AB1F-54E3AFA6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86400"/>
            <a:ext cx="363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Interpretable risk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288977-F77D-4087-A4C9-46FE8129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3530"/>
            <a:ext cx="676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2BBA01-397A-432E-80C2-841B8BB8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86400"/>
            <a:ext cx="6496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Feature importances, plain-English explanation, and WBT risk thresholds.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B8A346-1DB0-48C0-88F1-9D0C2103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38353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B78AE2-8004-4447-B7C0-BB7DF28D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486400"/>
            <a:ext cx="2590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explainability.py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DB40DB-E0B0-435B-AAFC-ABFAED6A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7408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F0CF59-F785-43E9-AB79-514E151D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76950"/>
            <a:ext cx="971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MET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A562C0-0569-4F0D-A8F9-CF6E0E79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97408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2B8640-81AC-482C-9ABF-57CA8F63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6076950"/>
            <a:ext cx="363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GenAI advisory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CD8425-0F23-4FE4-ABE9-ACB52810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74080"/>
            <a:ext cx="676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EDB775-8041-46D1-9800-EC919381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076950"/>
            <a:ext cx="6496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Gemini action plans with environment-secret key and rule-based fallback.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F78EA3-0A57-4AC5-8B8F-94A35E16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97408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73D515-C855-4D1B-A9BD-71AEFC5E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076950"/>
            <a:ext cx="2590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advisory.py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7F371F-0DF1-4BFD-953F-5C00440D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6463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4DE3AC-4C7E-4BC1-AC92-870E51A1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667500"/>
            <a:ext cx="971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MET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0A67BC-9524-44ED-89F7-565A50BA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56463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CCD857-8A1D-4E2F-A3F4-B2BCD24C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6667500"/>
            <a:ext cx="363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Modern dashboard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828841-FC10-4AF5-9A6D-04B5F95F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564630"/>
            <a:ext cx="676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AF3C03-AEB2-4BE8-AC85-00CFCA3B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667500"/>
            <a:ext cx="6496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Streamlit + Plotly interface focused on forecast, risk, explanation, and action.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E1535B-4999-4D5A-A716-57745F73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656463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B84E3B-D52E-4F3E-A2C8-3A6FD618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667500"/>
            <a:ext cx="2590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app.py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3839AE-E0DB-4EFC-8DDD-FCECAF60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5518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AC4CE41-EED0-4D64-856B-1145EB79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258050"/>
            <a:ext cx="971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MET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45A53C-C27E-42B0-A654-3AC7DF69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715518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3BA485-EFE0-42CA-9DD6-C00FACF7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7258050"/>
            <a:ext cx="363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Deployment-ready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FC335E-17BE-41BC-ABDE-C9B0090D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155180"/>
            <a:ext cx="676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787D4F-7E09-4A6F-A4D0-A3B4484E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258050"/>
            <a:ext cx="6496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GitHub/Hugging Face structure, requirements.txt, README, .env.example.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760542-5677-4544-BC67-34EE6895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15518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885084-3874-4730-9CD0-DB8CB54D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258050"/>
            <a:ext cx="2590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repo root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EC41B07-BF8E-4FE0-A2C0-1E348DB9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07705"/>
            <a:ext cx="3976688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9F5815-AFAE-4BD1-9CCA-8A19549D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477250"/>
            <a:ext cx="3562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3AA"/>
                </a:solidFill>
              </a:defRPr>
            </a:pPr>
            <a:r>
              <a:rPr sz="1200" b="1">
                <a:solidFill>
                  <a:srgbClr val="9FB3AA"/>
                </a:solidFill>
              </a:rPr>
              <a:t>No unrelated scope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5881391-9D59-4DF2-9521-978C2462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743950"/>
            <a:ext cx="3562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8FFE4"/>
                </a:solidFill>
              </a:defRPr>
            </a:pPr>
            <a:r>
              <a:rPr sz="2550" b="1">
                <a:solidFill>
                  <a:srgbClr val="B8FFE4"/>
                </a:solidFill>
              </a:rPr>
              <a:t>Clean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01E85C-F8C5-494D-A56C-F4BC47F4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201150"/>
            <a:ext cx="3562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3AA"/>
                </a:solidFill>
              </a:defRPr>
            </a:pPr>
            <a:r>
              <a:rPr sz="1275" b="0">
                <a:solidFill>
                  <a:srgbClr val="9FB3AA"/>
                </a:solidFill>
              </a:rPr>
              <a:t>no login, payment, or admin panel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670B72B-FBB9-4E45-8117-5C946A8B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38" y="8307705"/>
            <a:ext cx="3976688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3DB355-BBB5-4877-81BB-06C52460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8477250"/>
            <a:ext cx="3562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3AA"/>
                </a:solidFill>
              </a:defRPr>
            </a:pPr>
            <a:r>
              <a:rPr sz="1200" b="1">
                <a:solidFill>
                  <a:srgbClr val="9FB3AA"/>
                </a:solidFill>
              </a:rPr>
              <a:t>Data policy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9864A5A-1785-4FAD-B1FA-9A28655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8743950"/>
            <a:ext cx="3562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Safe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4CC80FD-20F2-46A3-9AEA-298EAB73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9201150"/>
            <a:ext cx="3562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3AA"/>
                </a:solidFill>
              </a:defRPr>
            </a:pPr>
            <a:r>
              <a:rPr sz="1275" b="0">
                <a:solidFill>
                  <a:srgbClr val="9FB3AA"/>
                </a:solidFill>
              </a:rPr>
              <a:t>no external data enabled by default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AB3A7BB-65FD-4313-BBA4-5EF37AA5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8307705"/>
            <a:ext cx="3976688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3830B53-C01B-4659-BE4F-502712BB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8477250"/>
            <a:ext cx="3562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3AA"/>
                </a:solidFill>
              </a:defRPr>
            </a:pPr>
            <a:r>
              <a:rPr sz="1200" b="1">
                <a:solidFill>
                  <a:srgbClr val="9FB3AA"/>
                </a:solidFill>
              </a:rPr>
              <a:t>Secret handling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5607B4F-5579-44F5-BB87-88BA4A7C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8743950"/>
            <a:ext cx="3562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D998"/>
                </a:solidFill>
              </a:defRPr>
            </a:pPr>
            <a:r>
              <a:rPr sz="2550" b="1">
                <a:solidFill>
                  <a:srgbClr val="20D998"/>
                </a:solidFill>
              </a:rPr>
              <a:t>Secure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B9698C9-A8B8-4EC0-A38E-80467208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201150"/>
            <a:ext cx="3562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3AA"/>
                </a:solidFill>
              </a:defRPr>
            </a:pPr>
            <a:r>
              <a:rPr sz="1275" b="0">
                <a:solidFill>
                  <a:srgbClr val="9FB3AA"/>
                </a:solidFill>
              </a:rPr>
              <a:t>GEMINI_API_KEY loaded from env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C543D9E-55AA-41A3-8AB6-CEFE6D6C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013" y="8307705"/>
            <a:ext cx="3976688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74CA21A-1409-46BB-B385-D7BEFEA0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477250"/>
            <a:ext cx="3562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3AA"/>
                </a:solidFill>
              </a:defRPr>
            </a:pPr>
            <a:r>
              <a:rPr sz="1200" b="1">
                <a:solidFill>
                  <a:srgbClr val="9FB3AA"/>
                </a:solidFill>
              </a:rPr>
              <a:t>Demo fallback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2D29CF6-A817-4087-BB29-2D76C94E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743950"/>
            <a:ext cx="3562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8FFE4"/>
                </a:solidFill>
              </a:defRPr>
            </a:pPr>
            <a:r>
              <a:rPr sz="2550" b="1">
                <a:solidFill>
                  <a:srgbClr val="B8FFE4"/>
                </a:solidFill>
              </a:rPr>
              <a:t>Reliable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BB7F2B2-94BA-47E6-ACDC-2AC5CF7C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9201150"/>
            <a:ext cx="3562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3AA"/>
                </a:solidFill>
              </a:defRPr>
            </a:pPr>
            <a:r>
              <a:rPr sz="1275" b="0">
                <a:solidFill>
                  <a:srgbClr val="9FB3AA"/>
                </a:solidFill>
              </a:rPr>
              <a:t>synthetic data only for UI testing</a:t>
            </a:r>
          </a:p>
        </p:txBody>
      </p:sp>
    </p:spTree>
    <p:extLst>
      <p:ext uri="{BB962C8B-B14F-4D97-AF65-F5344CB8AC3E}">
        <p14:creationId xmlns:p14="http://schemas.microsoft.com/office/powerpoint/2010/main" val="11499376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7993E3C7-B28D-4B5E-A238-4D45309D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92F0C51-2DC0-4C21-9C2D-E42A236E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WHY IT MATTERS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8B5BA3-E754-4393-8CEF-16F85C69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Heat risk is not just temperature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E798170-9952-4277-8962-3870FC75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04013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Wet-bulb temperature captures combined heat and humidity stress, which is closer to human cooling limits.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AD2F338-BA43-4912-97D7-0E193BF7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A6C9B-2B10-4D6B-8AC3-FAA5A3DE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DC00B-BA0B-4C09-B78E-E59B5F9A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WBT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0B638-9F06-47CE-87F8-B60D9655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95600"/>
            <a:ext cx="676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Physiological stress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5F120-039B-4052-B6A7-D2F49CF8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95650"/>
            <a:ext cx="676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When humidity is high, sweating becomes less effective and outdoor work becomes unsafe faster.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B0276-51E9-4B15-B096-C2F4E418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527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C062A-1B15-41FF-8B9E-FB79F6A2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10d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FFA50-E1EE-48A9-91C8-5B2B443C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57650"/>
            <a:ext cx="676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Operational pressure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FAF8A-2ABA-4844-9901-A8E78F93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76750"/>
            <a:ext cx="676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Hospitals, schools, and city agencies need advance warning, not just retrospective heat reports.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38B93-4EA2-4A33-9B65-6E12EE38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4256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D5C8D-A417-4321-A8AB-DE334EFA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15185-EC1A-4CC3-90E1-7FF5B4F3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38750"/>
            <a:ext cx="676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Actionable 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BA533-BC0B-425B-B9E1-64F6CA46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57850"/>
            <a:ext cx="676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The platform translates forecasts into risk levels and practical heat-response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247B8-5642-493E-BFC2-99054DCC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643" y="2887980"/>
            <a:ext cx="8461058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268D1-981C-48D1-9523-426EEF01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81350"/>
            <a:ext cx="781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FBF8"/>
                </a:solidFill>
              </a:defRPr>
            </a:pPr>
            <a:r>
              <a:rPr sz="2550" b="1">
                <a:solidFill>
                  <a:srgbClr val="F6FBF8"/>
                </a:solidFill>
              </a:rPr>
              <a:t>Wet-bulb risk thresholds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E8B4C-75DA-4F46-8779-E362FFB8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493" y="37719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9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546F79-B7CC-4E68-A2B2-349C11ED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86200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C4BEF-D0C0-447D-9E2C-3CFCF443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042" y="37719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9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9B687-F737-420B-83B9-89761D90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862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&lt; 24 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D21B6-32FA-414B-A5BA-BD3917DA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6342" y="37719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9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5E9E8-373B-4773-87CC-F1B83266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886200"/>
            <a:ext cx="3733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normal monitoring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A3B624-53C9-4484-9520-DAA3F712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493" y="43243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730112-45B6-4669-9ABF-F117A511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38650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Moderate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17A4DD-E580-49CF-B03E-9341A839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042" y="43243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4DBAEE-71F8-4123-A32E-C7336117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386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24-27 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75880F-2736-49E2-9B2B-88B92784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6342" y="43243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486217-AB42-42F5-B373-C6C40323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4438650"/>
            <a:ext cx="3733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increase caution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626455-1967-4931-AC42-8A583ABF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493" y="48768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4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0AF8D9-EDF9-4951-8670-A4FDE5EC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91100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High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0BC447-FE0C-4F79-93F5-CA03BC15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042" y="48768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4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D97EB1-6143-4D1F-9C8E-14FA5A81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911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27-30 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193A25-F1C8-4C64-9DA0-9E54AA11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6342" y="48768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4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E16193-4FF7-44E2-A6BD-7517622D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4991100"/>
            <a:ext cx="3733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heat action prep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FFF54A-B8CB-4C95-807C-207A0B64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493" y="54292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6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4147CD-80E3-4114-A215-C29D5E6B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43550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Extreme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02677C-DBAB-4D58-915D-155548ED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042" y="54292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6B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D10364-C7A7-4D8B-B984-6CBDC1CE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5435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&gt;= 30 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394357-5840-4697-98F1-715F3723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6342" y="54292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6B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F7F2FD-E78B-47ED-8C87-D3B0C141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5543550"/>
            <a:ext cx="3733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04"/>
                </a:solidFill>
              </a:defRPr>
            </a:pPr>
            <a:r>
              <a:rPr sz="1350" b="1">
                <a:solidFill>
                  <a:srgbClr val="020604"/>
                </a:solidFill>
              </a:rPr>
              <a:t>urgent protective response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60F24F-D238-425D-A3BD-A1D51816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13410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8"/>
          </a:solidFill>
          <a:ln xmlns:a="http://schemas.openxmlformats.org/drawingml/2006/main" w="0">
            <a:solidFill>
              <a:srgbClr val="24443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9E065B-5AB2-4256-A01C-4506F269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36270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Thresholds are centralized in code and can be adjusted if organizers provide local cutoffs.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BA4FCF-9DC1-4EFF-899A-80F1EAD7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493" y="7143750"/>
            <a:ext cx="1619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C5FA01-0B95-4D51-91DB-7C6D6FC1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723900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Forecast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93AD44-BCFE-4ECF-9F14-A98E42B3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5192" y="7143750"/>
            <a:ext cx="1619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4CADF4-D408-4B6A-877A-140EB9B6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23900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Classify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199253-9D6D-43B5-9F66-0D18FF11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5892" y="7143750"/>
            <a:ext cx="1428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82A49E-D2C5-4347-A516-4D4268F5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23900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Explain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87A67F-C919-4024-BF6B-17A3B540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092" y="7143750"/>
            <a:ext cx="1428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0D3229-036E-4243-9810-48A5E9C7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723900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Advise</a:t>
            </a:r>
          </a:p>
        </p:txBody>
      </p:sp>
    </p:spTree>
    <p:extLst>
      <p:ext uri="{BB962C8B-B14F-4D97-AF65-F5344CB8AC3E}">
        <p14:creationId xmlns:p14="http://schemas.microsoft.com/office/powerpoint/2010/main" val="16876576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A6A765B0-DE3D-462E-B06A-5E8C6664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450B560-6C13-4C4A-A6A8-9D29CE3C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CHALLENGE TARGET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C004E0-2CF7-46C2-A7D5-3824CA6C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Predict 10 future WBT values per test row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D4F1F4E-2B2D-4336-ACB0-C2F2FC05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8362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HeatGuard AI produces Kaggle-ready target_day_1 through target_day_10 predictions.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75521E7-30D1-470F-AD3A-74C51406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69BEE-3E63-43CB-BFE7-3245EDA8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8471059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1426A-4E80-42F0-9D36-294EE702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790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BF8"/>
                </a:solidFill>
              </a:defRPr>
            </a:pPr>
            <a:r>
              <a:rPr sz="2400" b="1">
                <a:solidFill>
                  <a:srgbClr val="F6FBF8"/>
                </a:solidFill>
              </a:rPr>
              <a:t>Input files used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4EF99-D815-4E86-AD57-98EB7CE2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999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62D44-45E3-4543-9981-FCE88768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E1161-5A6A-47A7-8A29-780067B0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2999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3D3FB-68DC-488F-BAE2-36D67204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29050"/>
            <a:ext cx="516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0ED99-869A-4DD1-AEB1-098F3289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389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DE728-1E1F-43A8-918B-7390F41E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train.csv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38DC3-5B72-48D0-B2F9-AACCBA20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389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69CC8-467C-428C-A227-65B67ED5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52950"/>
            <a:ext cx="516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Historical WBT labels for supervised training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ECB7B-8794-4561-8F35-4884C99D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589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2A144-9406-41D1-AD2B-2BD9C999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context.csv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09255-48DA-4E9B-8EAF-E7A677C9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1589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BD113-F33F-4996-8EA5-10BBC84B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516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Recent context for lag and rolling features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595E42-9597-435E-8E71-1442CCB8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7789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8E8D0-6707-40C5-A570-F5A56352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769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test.csv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6EB03-05A4-439D-8112-1625A76A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97789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82EF3-14A0-4AB7-B33F-664E0E7F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76950"/>
            <a:ext cx="516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Future rows to score by location/day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F1427-FA3C-4685-9EC2-295DBE0B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73989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2DF86-7D0B-4739-AF2E-3C207D1A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8389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sample_submission.csv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828347-B553-44A7-B5B7-F16E3378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73989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974EAE-1AEA-4070-9EA3-C55AC0AD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838950"/>
            <a:ext cx="516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Required output schema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BDFA50-329C-496F-B92C-9CD92F2B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409" y="2887980"/>
            <a:ext cx="7664291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0AABE1-A35A-4998-B212-0186A6FA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6705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9949C5-3E7F-490F-88AF-53B3812C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0995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Feature frame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6DF365-FF50-4ADE-AD23-D8CAB19B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7190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weather, location, time, lag, rolling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DE8735-464A-4638-AB53-5F3A0088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409" y="4545330"/>
            <a:ext cx="7664291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CDB39E-446C-451E-9D99-4B8E20A7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2440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12BE01-4856-4C71-8290-A18B0D1E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06730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Direct horizon models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6CCA34-B4FB-4227-9844-81EB7646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2925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one forecast path for days 1-10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602F37-04EC-4460-9766-564A3E0B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409" y="6202680"/>
            <a:ext cx="7664291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344417-D30D-4428-9F0F-AC38D0DA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38175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E07092-8180-4E58-B42E-BEA56EEE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72465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submission.csv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EB5C92-EF92-4A56-91F6-CD75BAF5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08660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row_id + target_day_1...target_day_10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54FB6D-906C-4578-904D-3AB82C8F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409" y="7860030"/>
            <a:ext cx="7664291" cy="1817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E07F56-4CCB-4B95-840A-37D0476B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096250"/>
            <a:ext cx="71628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8FFE4"/>
                </a:solidFill>
              </a:defRPr>
            </a:pPr>
            <a:r>
              <a:rPr sz="2400" b="1">
                <a:solidFill>
                  <a:srgbClr val="B8FFE4"/>
                </a:solidFill>
              </a:rPr>
              <a:t>The generated CSV has 500,875 rows and no missing predictions.</a:t>
            </a:r>
          </a:p>
        </p:txBody>
      </p:sp>
    </p:spTree>
    <p:extLst>
      <p:ext uri="{BB962C8B-B14F-4D97-AF65-F5344CB8AC3E}">
        <p14:creationId xmlns:p14="http://schemas.microsoft.com/office/powerpoint/2010/main" val="20526353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C4F54AA0-52C8-4350-A3F9-1AAB6404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2A7A83C-359F-4679-B076-7C91D941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SYSTEM DESIGN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8D3FE2-74A4-4992-8B83-836AEF5B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End-to-end climate intelligence pipeline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E3F099E-14A2-4989-A906-43EA6D29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0801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submission is more than a model: it is a reusable forecasting system connected to a demo-ready dashboard.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BB480BB-2599-4E2A-8FF2-95322AB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13D41-5EF9-4F9C-A579-09FBB4B6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23399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367EB-088D-4981-8EDD-EDFACAE8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62623-3C48-42F6-A55E-A1712BC9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FDFCA-9B03-4D4B-9D74-F1E9F3EC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train/test/context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DD58F-53E3-4CBF-9B7A-43070182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209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603B7-B9BF-4726-99DC-953D8DEF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425" y="2887980"/>
            <a:ext cx="23399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B8BA1-6F60-41FE-8560-559B0118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67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7469F-183D-485E-B9D0-0290A8CF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099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Preprocess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D48BA-AC0E-4AD9-9FD8-DFAA6C28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719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missing values + 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5FB7D-92D2-4C11-8BBC-0198B5B0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09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8772D-22BF-4D37-9700-315E827D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2887980"/>
            <a:ext cx="23399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EBF3A-E9C2-4649-B445-37077184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67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7A026-2C25-4AC0-B21A-7C6F0430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099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C6B6E-A21A-4241-BBB8-DF986D02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lags, rolling, cyclical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A9FF4-66A8-4D43-81BC-B0D28A37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95600"/>
            <a:ext cx="209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748A83-A9FF-4DFF-BCBE-56E1065F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87980"/>
            <a:ext cx="23399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7727C-B150-4DF3-B5C7-3345976D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D762D-46FF-4136-B871-25411C7F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099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ML Forecast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4FC266-0D39-4246-BBCD-EBBE4EBD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719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Fast ExtraTrees models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3DF67A-23B5-46D7-83DA-06C09B3B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895600"/>
            <a:ext cx="209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17CE9C-BE18-45E2-9380-AFD56EAA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8800" y="2887980"/>
            <a:ext cx="23399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1918EC-FB3F-4109-B33C-5CA864ED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067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28BA53-9574-47A2-940A-229CFF0C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4099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Risk Layer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9DA028-EA5E-4F84-A117-23F747C4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7719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WBT thresholds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BEE819-44A4-4C39-84F8-7CA70240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2895600"/>
            <a:ext cx="209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D4BF83-E2AD-43EE-A60A-440CEA7D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6925" y="2887980"/>
            <a:ext cx="2540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7FF78A-C3F3-41F8-A1A2-9ED31111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30670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F3C2"/>
                </a:solidFill>
              </a:defRPr>
            </a:pPr>
            <a:r>
              <a:rPr sz="1650" b="1">
                <a:solidFill>
                  <a:srgbClr val="67F3C2"/>
                </a:solidFill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798A9C-8E44-42CB-BDFA-6BD9319D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34099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BF8"/>
                </a:solidFill>
              </a:defRPr>
            </a:pPr>
            <a:r>
              <a:rPr sz="1725" b="1">
                <a:solidFill>
                  <a:srgbClr val="F6FBF8"/>
                </a:solidFill>
              </a:rPr>
              <a:t>Advisory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56F018-26BF-404D-9999-49CA6E2D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377190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Gemini or rule fallback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5A5831-3CE0-4489-B244-E0400726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700" y="2895600"/>
            <a:ext cx="9525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A42509-A3A8-496A-80E3-2925B1D2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3480"/>
            <a:ext cx="16535400" cy="4693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A89191-7ECD-427D-BEAB-8BA363BA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8828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73EF7E-990C-4CE0-A421-8DB024D0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!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A8F2BA-54DB-4C24-B48D-D74E93E2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95900"/>
            <a:ext cx="422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No leakage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D83BE1-5133-4D93-8072-84E128CC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95950"/>
            <a:ext cx="4229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Future target labels are shifted; features use current, past, and context values.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2ECB25-FE7A-4C30-A3EF-BAD4E6B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28828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FA178B-2100-4F14-84AB-7EB6630F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292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ML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3FE5F4-7107-486E-A39E-3520B931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95900"/>
            <a:ext cx="422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Reusable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173244-CAA3-4218-A483-93F27A9C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95950"/>
            <a:ext cx="4229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Training, prediction, submission, explainability, and advisory are separated into src modules.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278BD1-CCFE-4D2E-8B31-97A8D23B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9750" y="528828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0900FE-0B5D-44E4-A592-41C77743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4292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HF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8256E5-DEA3-4FEA-923E-1BA30FC0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295900"/>
            <a:ext cx="422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Deployable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627E22-A082-482A-A05E-ADA488C5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695950"/>
            <a:ext cx="4229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Streamlit app runs locally and is compatible with Hugging Face Spaces secrets.</a:t>
            </a:r>
          </a:p>
        </p:txBody>
      </p:sp>
    </p:spTree>
    <p:extLst>
      <p:ext uri="{BB962C8B-B14F-4D97-AF65-F5344CB8AC3E}">
        <p14:creationId xmlns:p14="http://schemas.microsoft.com/office/powerpoint/2010/main" val="141235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05EBC4C6-544D-41D9-983B-91CB464B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E0AD5A0-3484-498C-90E6-C2C43E14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FEATURE ENGINEERING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B4D4D1-C3FB-4DB8-9D20-DEA80CE3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Strong temporal features drive the forecast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E502027-AF9B-4B0F-BD87-6D3670B3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9505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model sees weather predictors plus time-aware patterns that support 10-day lead predictions.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C268E2-35C1-4EED-ACAA-44F83BC1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30344-4410-4900-8F4D-EE37280A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9277826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F2B2D-7CE7-4469-9154-C5CBCA92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468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0AAD3-75F4-4732-8A71-3BAF7967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575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Feature group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5A75B-E19B-4C00-A142-5D3763B3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54680"/>
            <a:ext cx="571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279F7-85CF-44D3-9A6D-FF67B6FF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575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206BD-03E7-4A61-B4AF-8D2E839E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428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FFC02-D2A9-45E0-9B49-546BAA58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Weather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2E9F6-C12D-4975-ABA4-EC3C0042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6428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60067-79B1-42DD-8A4D-B048179F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671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temperature, humidity, wind, pressure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8AD36-0AF1-4143-BB76-5E4F8608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198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A4DC2-9AFB-4E64-891D-6DB582B8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148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Location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1F2CEA-C5B9-4182-982F-F0D5D23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1198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9571E-AE35-433B-B766-7A15A425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148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relative lat/lon, location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AE970-A98A-4666-B26B-B56F5750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5968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9A2B3-B6A3-4CB7-AD7B-7964EA89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625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Calendar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2225C-F576-4E69-ADF5-7C8AB095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5968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35BBE-969D-4D8C-B4B6-9B1623AD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625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month, day of year, sine/cosine cycles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163DD-0512-4BB9-B83A-56E814C0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0738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276A4A-4379-4702-A7DF-9E7C45A9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102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Lag history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240E0-8647-4723-9AAF-B2963553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0738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9DD75C-5992-4077-9E1A-8A3A9639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8102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lag_1, lag_2, lag_3, lag_7, lag_10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003BE9-6B65-4A6B-A4EA-54D4C4A8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5508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BCD627-9003-4342-A3B8-B7C290C9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4579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Rolling trend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52323E-03A2-4602-9288-F3D03CC5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35508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02422C-374F-4D85-8511-0BA70873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4579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mean_3, mean_7, std_7, max_7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2E8E11-FA90-46EC-B58F-D74563BC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176" y="2887980"/>
            <a:ext cx="6857524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AA2A4F-3FAC-429E-BE10-3901D59D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086100"/>
            <a:ext cx="640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Engineered features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BA0BF8-FC9A-450A-82A9-22529F0B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390900"/>
            <a:ext cx="6400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67F3C2"/>
                </a:solidFill>
              </a:defRPr>
            </a:pPr>
            <a:r>
              <a:rPr sz="3225" b="1">
                <a:solidFill>
                  <a:srgbClr val="67F3C2"/>
                </a:solidFill>
              </a:rPr>
              <a:t>237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64F3FA-9DCF-4C3E-9B4B-4A8DB950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000500"/>
            <a:ext cx="640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saved in models/features.json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71C848-D94F-48A5-A1E5-C3E43DC2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176" y="4792980"/>
            <a:ext cx="6857524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C929F4-3A3E-4651-A3B2-49FA235F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991100"/>
            <a:ext cx="640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Forecast horizon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418F26-BCF6-40A4-AE10-580A9B33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295900"/>
            <a:ext cx="6400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B8FFE4"/>
                </a:solidFill>
              </a:defRPr>
            </a:pPr>
            <a:r>
              <a:rPr sz="3225" b="1">
                <a:solidFill>
                  <a:srgbClr val="B8FFE4"/>
                </a:solidFill>
              </a:rPr>
              <a:t>10 days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DBE8BC-10C1-49AC-BA87-7CF2916D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05500"/>
            <a:ext cx="640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direct target_day outputs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E691BB-6D06-4F69-8BFD-D9F80914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176" y="6697980"/>
            <a:ext cx="6857524" cy="297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6318E4-0E75-45B7-84C9-A2A8E616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934200"/>
            <a:ext cx="63627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6FBF8"/>
                </a:solidFill>
              </a:defRPr>
            </a:pPr>
            <a:r>
              <a:rPr sz="2250" b="1">
                <a:solidFill>
                  <a:srgbClr val="F6FBF8"/>
                </a:solidFill>
              </a:rPr>
              <a:t>Feature design emphasizes recent heat/humidity behavior and seasonal cycles while preserving chronological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9210288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858EBE42-DAE1-4314-9D50-0FB28C68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11F632A-4DD6-43F6-949D-B1A4F076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ML PIPELINE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E4BE20-B717-4167-901F-57FBBF6E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Reusable training flow built for real Kaggle data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BCD421A-BEE8-442F-9031-54E8BA9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1430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system automatically uses real files from data/, engineers time-aware features, trains candidate models, and saves deployment artifacts.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EFEC983-0A5D-4BCD-8A92-5F757A66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B9F67-8B6F-4AA2-BEE5-58D0C18A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5334000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7CD5F-7413-4276-BCD9-F8F36E2F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BF8"/>
                </a:solidFill>
              </a:defRPr>
            </a:pPr>
            <a:r>
              <a:rPr sz="2400" b="1">
                <a:solidFill>
                  <a:srgbClr val="F6FBF8"/>
                </a:solidFill>
              </a:rPr>
              <a:t>Data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3421A-89A6-4235-B54B-AA765B40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189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C1C1C-33E3-4A4F-8EB9-5094783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2D0DD-86F6-4754-B0BD-8A7E708F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95700"/>
            <a:ext cx="390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Auto-discovery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DEAC1-9AE7-4F4F-AD60-5CE0D386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3905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Looks for train.csv, test.csv, context.csv, and sample_submission.csv.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F73D0-A3B2-43D6-B263-0FFD058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7393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9C4EA-59D8-4B51-A2B8-291C4830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1490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B36FF-92E2-40C0-BE4D-6D1CC0A8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81550"/>
            <a:ext cx="390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Target detection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2775E-E672-4160-B50C-5F1A7B0A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81600"/>
            <a:ext cx="3905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Detects WBT/wet_bulb/target-like columns, with CLI override support.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D9D91-CF24-473C-850A-3716D973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5597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4AF0A-7AAA-4FE1-848F-3984151F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8170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9F321-0EE7-4147-A0E1-7C500F53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48350"/>
            <a:ext cx="390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Missing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3AF08-4FA0-4D26-949A-BD144E91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267450"/>
            <a:ext cx="3905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Median imputation inside the saved sklearn pipeline.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7AF8E-6528-490C-BC8D-CA053357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87980"/>
            <a:ext cx="5334000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87A6C-E18E-477C-8550-DA46CE9A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BF8"/>
                </a:solidFill>
              </a:defRPr>
            </a:pPr>
            <a:r>
              <a:rPr sz="2400" b="1">
                <a:solidFill>
                  <a:srgbClr val="F6FBF8"/>
                </a:solidFill>
              </a:rPr>
              <a:t>Feature factory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7333B-734A-46D3-9605-A3A35C2B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91890"/>
            <a:ext cx="480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82A70-5D16-423A-8210-DEF73874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438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3AA"/>
                </a:solidFill>
              </a:defRPr>
            </a:pPr>
            <a:r>
              <a:rPr sz="1200" b="1">
                <a:solidFill>
                  <a:srgbClr val="9FB3AA"/>
                </a:solidFill>
              </a:rPr>
              <a:t>Total engineered features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D6A3F9-8712-4D07-9C77-7F018EE0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38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237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D0D33-A24C-48F3-A15E-6807B85B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3AA"/>
                </a:solidFill>
              </a:defRPr>
            </a:pPr>
            <a:r>
              <a:rPr sz="1275" b="0">
                <a:solidFill>
                  <a:srgbClr val="9FB3AA"/>
                </a:solidFill>
              </a:rPr>
              <a:t>calendar, weather, lag, rolling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3142D1-06C4-4CDB-9931-935C835E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20640"/>
            <a:ext cx="480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41C9D-5085-4407-8391-D8E21FF4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95900"/>
            <a:ext cx="438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3AA"/>
                </a:solidFill>
              </a:defRPr>
            </a:pPr>
            <a:r>
              <a:rPr sz="1200" b="1">
                <a:solidFill>
                  <a:srgbClr val="9FB3AA"/>
                </a:solidFill>
              </a:rPr>
              <a:t>Lag features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6B021-BE6D-445B-913D-F367E874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43550"/>
            <a:ext cx="438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8FFE4"/>
                </a:solidFill>
              </a:defRPr>
            </a:pPr>
            <a:r>
              <a:rPr sz="2550" b="1">
                <a:solidFill>
                  <a:srgbClr val="B8FFE4"/>
                </a:solidFill>
              </a:rPr>
              <a:t>115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96C6E-29DD-4552-A4C8-C96AD28F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1980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3AA"/>
                </a:solidFill>
              </a:defRPr>
            </a:pPr>
            <a:r>
              <a:rPr sz="1275" b="0">
                <a:solidFill>
                  <a:srgbClr val="9FB3AA"/>
                </a:solidFill>
              </a:rPr>
              <a:t>1, 2, 3, 7, and 10-day memory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3EEFA5-F59A-4315-9621-E9DB0A55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549390"/>
            <a:ext cx="480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43BFF2-23F4-456C-8498-2D4B309D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724650"/>
            <a:ext cx="438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3AA"/>
                </a:solidFill>
              </a:defRPr>
            </a:pPr>
            <a:r>
              <a:rPr sz="1200" b="1">
                <a:solidFill>
                  <a:srgbClr val="9FB3AA"/>
                </a:solidFill>
              </a:rPr>
              <a:t>Rolling features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F9620A-ECA2-4EC2-AA5B-7A044565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972300"/>
            <a:ext cx="438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D998"/>
                </a:solidFill>
              </a:defRPr>
            </a:pPr>
            <a:r>
              <a:rPr sz="2550" b="1">
                <a:solidFill>
                  <a:srgbClr val="20D998"/>
                </a:solidFill>
              </a:rPr>
              <a:t>92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EC3EAF-9C00-49F3-9B44-0D042C14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4485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3AA"/>
                </a:solidFill>
              </a:defRPr>
            </a:pPr>
            <a:r>
              <a:rPr sz="1275" b="0">
                <a:solidFill>
                  <a:srgbClr val="9FB3AA"/>
                </a:solidFill>
              </a:rPr>
              <a:t>mean/std/max trend windows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4320BB-588C-4A61-B7F2-93C7F6CC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887980"/>
            <a:ext cx="5334000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B2FD90-584D-4CE6-9167-E963DA97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16230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BF8"/>
                </a:solidFill>
              </a:defRPr>
            </a:pPr>
            <a:r>
              <a:rPr sz="2400" b="1">
                <a:solidFill>
                  <a:srgbClr val="F6FBF8"/>
                </a:solidFill>
              </a:rPr>
              <a:t>Model selection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C0A9BD-6C7B-4D7E-9CF8-24F3EE33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653790"/>
            <a:ext cx="2047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80249F-AE40-4F0E-B5AB-BF9760A7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752850"/>
            <a:ext cx="1790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7F3C2"/>
                </a:solidFill>
              </a:defRPr>
            </a:pPr>
            <a:r>
              <a:rPr sz="1125" b="1">
                <a:solidFill>
                  <a:srgbClr val="67F3C2"/>
                </a:solidFill>
              </a:rPr>
              <a:t>Candidate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DC46B8-7AF2-4D06-A515-6425E36E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365379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545A6C-4A69-4DA8-9768-E11A67B1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3752850"/>
            <a:ext cx="2076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7F3C2"/>
                </a:solidFill>
              </a:defRPr>
            </a:pPr>
            <a:r>
              <a:rPr sz="1125" b="1">
                <a:solidFill>
                  <a:srgbClr val="67F3C2"/>
                </a:solidFill>
              </a:rPr>
              <a:t>Role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61E1B0-EE6D-431C-B8C4-BFDCAF24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263390"/>
            <a:ext cx="2047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5CBE87-E900-4E2D-85F8-BFAE1BB0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362450"/>
            <a:ext cx="1790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RandomForest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D280B9-FC18-47FC-9D7F-5AD66D14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426339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1A2477-12E9-4A51-BFE7-6E36536F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4362450"/>
            <a:ext cx="2076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robust baseline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B3FCA1-F5E6-48D1-A5B8-65042F8D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892040"/>
            <a:ext cx="2047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EED3C9-19C5-4C4D-B9C0-2BD04943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991100"/>
            <a:ext cx="1790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HistGradientBoosting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DED50E-6464-4040-914E-B133CD78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489204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00BD93-19D9-4D57-834F-2C23DF27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4991100"/>
            <a:ext cx="2076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fast nonlinear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196A9A-7998-47B9-8F60-54A513BB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520690"/>
            <a:ext cx="2047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F377C0-6DBA-4323-B3A2-894330DB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5619750"/>
            <a:ext cx="1790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ExtraTrees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9071A8-EB49-4330-9F80-4ACF487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552069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8BBAC0-7669-45E7-A5C5-772FFC87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5619750"/>
            <a:ext cx="2076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selected family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4CF1B2-C747-4BC1-9CA2-AA567C35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149340"/>
            <a:ext cx="2047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7339E1-5E1C-4C95-BBE9-AACED1E9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248400"/>
            <a:ext cx="1790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XGBoost/LightGBM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A75934-D319-439A-9046-AB746671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614934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EE456C-4714-4860-8B3A-6D2D9D3C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6248400"/>
            <a:ext cx="2076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6FBF8"/>
                </a:solidFill>
              </a:defRPr>
            </a:pPr>
            <a:r>
              <a:rPr sz="1125" b="0">
                <a:solidFill>
                  <a:srgbClr val="F6FBF8"/>
                </a:solidFill>
              </a:rPr>
              <a:t>optional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3D5368-1065-4B2A-BAAC-738AE808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777990"/>
            <a:ext cx="480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E7A39A-7493-4147-BF58-AAC1E477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6953250"/>
            <a:ext cx="438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3AA"/>
                </a:solidFill>
              </a:defRPr>
            </a:pPr>
            <a:r>
              <a:rPr sz="1200" b="1">
                <a:solidFill>
                  <a:srgbClr val="9FB3AA"/>
                </a:solidFill>
              </a:rPr>
              <a:t>Selected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840583-3D1A-4747-82C4-87EBD7AC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200900"/>
            <a:ext cx="438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8FFE4"/>
                </a:solidFill>
              </a:defRPr>
            </a:pPr>
            <a:r>
              <a:rPr sz="2550" b="1">
                <a:solidFill>
                  <a:srgbClr val="B8FFE4"/>
                </a:solidFill>
              </a:rPr>
              <a:t>FastExtraTrees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86A015-27E5-48B1-939A-FC2816A3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6771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3AA"/>
                </a:solidFill>
              </a:defRPr>
            </a:pPr>
            <a:r>
              <a:rPr sz="1275" b="0">
                <a:solidFill>
                  <a:srgbClr val="9FB3AA"/>
                </a:solidFill>
              </a:rPr>
              <a:t>best saved artifact by RMSE</a:t>
            </a:r>
          </a:p>
        </p:txBody>
      </p:sp>
    </p:spTree>
    <p:extLst>
      <p:ext uri="{BB962C8B-B14F-4D97-AF65-F5344CB8AC3E}">
        <p14:creationId xmlns:p14="http://schemas.microsoft.com/office/powerpoint/2010/main" val="20655639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FB653E0A-B0C4-4FC9-B767-98B32BBB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92D91DF-9BB3-432B-877D-0123A147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MODEL &amp; VALIDATION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D2A54A-E3D0-4A05-A155-48C5C0C8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FastExtraTrees selected on time-aware validation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912BDF8-CDE9-43FF-9E87-0F0055CA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952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model was trained on real Kaggle train.csv with a chronological split and future-shifted targets.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0D93A1D-F972-43FA-BFFB-8D3534DE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2B0D1-C824-4A41-B949-9813A1B0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3741896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E297B-F7CD-403F-9E42-C7C5F1AD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MAE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1F225-7F7C-4EC3-8294-23D76F0F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3276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67F3C2"/>
                </a:solidFill>
              </a:defRPr>
            </a:pPr>
            <a:r>
              <a:rPr sz="3225" b="1">
                <a:solidFill>
                  <a:srgbClr val="67F3C2"/>
                </a:solidFill>
              </a:rPr>
              <a:t>0.323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13F09-E563-4754-BA80-2456D636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3276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lower is better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94815-E465-4B7D-9522-1B137A7F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646" y="2887980"/>
            <a:ext cx="3741896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32DDC-F961-4DF3-A16E-09506937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861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F0CD3-7CE5-408C-9F9E-90D3DE9D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3276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67F3C2"/>
                </a:solidFill>
              </a:defRPr>
            </a:pPr>
            <a:r>
              <a:rPr sz="3225" b="1">
                <a:solidFill>
                  <a:srgbClr val="67F3C2"/>
                </a:solidFill>
              </a:rPr>
              <a:t>0.446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090F1-202B-41A1-BCFB-4A066159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00500"/>
            <a:ext cx="3276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selection 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0E57D-D243-4D2A-BC07-8F00D8A9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3930"/>
            <a:ext cx="7655242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A20E9-9129-495E-9395-8E6348E7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720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Validation R2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ABB84-B26E-4189-8CA8-5FFE8718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7200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B8FFE4"/>
                </a:solidFill>
              </a:defRPr>
            </a:pPr>
            <a:r>
              <a:rPr sz="3225" b="1">
                <a:solidFill>
                  <a:srgbClr val="B8FFE4"/>
                </a:solidFill>
              </a:rPr>
              <a:t>0.993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5ED52-5E30-44A7-A5BA-C3363D55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86450"/>
            <a:ext cx="720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fit on held-out time split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BCA5E-3BEF-459C-8AC4-D64FC735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59880"/>
            <a:ext cx="7655242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B07B9-4383-4B29-AE19-9348046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96100"/>
            <a:ext cx="7124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6FBF8"/>
                </a:solidFill>
              </a:defRPr>
            </a:pPr>
            <a:r>
              <a:rPr sz="2100" b="1">
                <a:solidFill>
                  <a:srgbClr val="F6FBF8"/>
                </a:solidFill>
              </a:rPr>
              <a:t>Validation approach: chronological 80/20 split. The feature pipeline avoids future target leakage.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CCCD1-85A8-46C2-976F-FD481344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643" y="2887980"/>
            <a:ext cx="8461058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F1172-6FC7-494D-82F6-87B5B738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7886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BF8"/>
                </a:solidFill>
              </a:defRPr>
            </a:pPr>
            <a:r>
              <a:rPr sz="2400" b="1">
                <a:solidFill>
                  <a:srgbClr val="F6FBF8"/>
                </a:solidFill>
              </a:rPr>
              <a:t>Validation score snapshot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8A0DF-EDEE-45F8-86A0-C6EA5AA2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576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R2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0074C-6E58-4D59-A88E-EEEA1463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592" y="365379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C4170-CA6C-4626-8445-94E278FB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E4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6F03E-F5AA-4A8A-B073-F9EE93EF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365760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FFE4"/>
                </a:solidFill>
              </a:defRPr>
            </a:pPr>
            <a:r>
              <a:rPr sz="1425" b="1">
                <a:solidFill>
                  <a:srgbClr val="B8FFE4"/>
                </a:solidFill>
              </a:rPr>
              <a:t>0.993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66F60C-7FDE-4950-83C7-755B1E52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291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RMSE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37F32B-8E9A-4AA3-9844-FD5E1362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592" y="422529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8417F3-F5DF-44B6-A646-085780CA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4C21FC-DC68-4E33-8E82-1DDE954A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422910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7F3C2"/>
                </a:solidFill>
              </a:defRPr>
            </a:pPr>
            <a:r>
              <a:rPr sz="1425" b="1">
                <a:solidFill>
                  <a:srgbClr val="67F3C2"/>
                </a:solidFill>
              </a:rPr>
              <a:t>0.446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F7A9ED-76B4-4B04-9E3B-C843A316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006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MAE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E00866-474A-48A3-8BD8-3B9D5086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592" y="479679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438256-C834-41E7-A245-0BC7688F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00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9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A234B6-7C89-48AC-90FA-562598FA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480060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D998"/>
                </a:solidFill>
              </a:defRPr>
            </a:pPr>
            <a:r>
              <a:rPr sz="1425" b="1">
                <a:solidFill>
                  <a:srgbClr val="20D998"/>
                </a:solidFill>
              </a:rPr>
              <a:t>0.323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7234E9-9988-4CED-8913-F217C267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72100"/>
            <a:ext cx="788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8"/>
          </a:solidFill>
          <a:ln xmlns:a="http://schemas.openxmlformats.org/drawingml/2006/main" w="0">
            <a:solidFill>
              <a:srgbClr val="2444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F98120-1759-4F65-B1E2-8C757475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05450"/>
            <a:ext cx="788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FB3AA"/>
                </a:solidFill>
              </a:defRPr>
            </a:pPr>
            <a:r>
              <a:rPr sz="1800" b="0">
                <a:solidFill>
                  <a:srgbClr val="9FB3AA"/>
                </a:solidFill>
              </a:rPr>
              <a:t>Trained model artifact: models/heatguard_model.joblib</a:t>
            </a:r>
          </a:p>
        </p:txBody>
      </p:sp>
    </p:spTree>
    <p:extLst>
      <p:ext uri="{BB962C8B-B14F-4D97-AF65-F5344CB8AC3E}">
        <p14:creationId xmlns:p14="http://schemas.microsoft.com/office/powerpoint/2010/main" val="20515793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4C19976A-1604-4EE6-8E96-007355C4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AD7FA16-326C-4083-B873-FD8A3F05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EXPLAINABILITY + RISK INTELLIGENCE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499158-20A9-4B03-95B5-D40B646E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Predictions are translated into reasons and action levels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8A64A05-B392-42F4-9EA4-E6CDD9B6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205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dashboard uses model feature importances plus wet-bulb thresholds so judges can understand both the forecast and the response.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C6EF2BC-6A04-4556-B2B5-B0F430C2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6E619-9E2E-4781-A5E5-4061E481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8874443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A4B1A-8343-4DC0-860A-B6A575EA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830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BF8"/>
                </a:solidFill>
              </a:defRPr>
            </a:pPr>
            <a:r>
              <a:rPr sz="2400" b="1">
                <a:solidFill>
                  <a:srgbClr val="F6FBF8"/>
                </a:solidFill>
              </a:rPr>
              <a:t>Top contributing model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DD74C-C45A-4F95-8ADC-77C3FD9C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6FBF8"/>
                </a:solidFill>
              </a:defRPr>
            </a:pPr>
            <a:r>
              <a:rPr sz="1275" b="1">
                <a:solidFill>
                  <a:srgbClr val="F6FBF8"/>
                </a:solidFill>
              </a:rPr>
              <a:t>cos_month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1B678-98BB-432B-9E4B-7E6F5D0E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6331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C7CEC-B23E-43DE-9E6F-CD3203DD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576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D742D-6816-4421-8961-ECD177B2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5760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FFE4"/>
                </a:solidFill>
              </a:defRPr>
            </a:pPr>
            <a:r>
              <a:rPr sz="1200" b="1">
                <a:solidFill>
                  <a:srgbClr val="B8FFE4"/>
                </a:solidFill>
              </a:rPr>
              <a:t>0.150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4644C-4945-4B0F-B2BC-EF045D0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6FBF8"/>
                </a:solidFill>
              </a:defRPr>
            </a:pPr>
            <a:r>
              <a:rPr sz="1275" b="1">
                <a:solidFill>
                  <a:srgbClr val="F6FBF8"/>
                </a:solidFill>
              </a:rPr>
              <a:t>month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AF0C5-67E6-4FA8-A2B8-6D1C3F9F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5386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14393-B567-40F4-A4A5-64A52C78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67200"/>
            <a:ext cx="2657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12052-684F-481E-B1D7-5D136C7A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4815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FFE4"/>
                </a:solidFill>
              </a:defRPr>
            </a:pPr>
            <a:r>
              <a:rPr sz="1200" b="1">
                <a:solidFill>
                  <a:srgbClr val="B8FFE4"/>
                </a:solidFill>
              </a:rPr>
              <a:t>0.110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87030-B8B7-499F-BFC3-343857E8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6FBF8"/>
                </a:solidFill>
              </a:defRPr>
            </a:pPr>
            <a:r>
              <a:rPr sz="1275" b="1">
                <a:solidFill>
                  <a:srgbClr val="F6FBF8"/>
                </a:solidFill>
              </a:rPr>
              <a:t>cos_dayofyear_lag_3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C3B3A-D3D4-43E3-ABA0-20BC877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4441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1A70E-DEF4-455E-AA08-1AFF5B9B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7680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45122-1E07-4B61-9ECD-5BB9AE5F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3870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FFE4"/>
                </a:solidFill>
              </a:defRPr>
            </a:pPr>
            <a:r>
              <a:rPr sz="1200" b="1">
                <a:solidFill>
                  <a:srgbClr val="B8FFE4"/>
                </a:solidFill>
              </a:rPr>
              <a:t>0.078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7EAE36-A12F-486A-ADF1-A97F445C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292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6FBF8"/>
                </a:solidFill>
              </a:defRPr>
            </a:pPr>
            <a:r>
              <a:rPr sz="1275" b="1">
                <a:solidFill>
                  <a:srgbClr val="F6FBF8"/>
                </a:solidFill>
              </a:rPr>
              <a:t>row_day_index_lag_7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56FD2-EEB9-4270-970D-1C295A77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3496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4DB2D-01AA-42FD-9C9F-A4183806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10200"/>
            <a:ext cx="1228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6C6D32-24FF-4EDB-A612-5A59258D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FFE4"/>
                </a:solidFill>
              </a:defRPr>
            </a:pPr>
            <a:r>
              <a:rPr sz="1200" b="1">
                <a:solidFill>
                  <a:srgbClr val="B8FFE4"/>
                </a:solidFill>
              </a:rPr>
              <a:t>0.051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19585-C9B2-44CB-ACFD-BD449643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1980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6FBF8"/>
                </a:solidFill>
              </a:defRPr>
            </a:pPr>
            <a:r>
              <a:rPr sz="1275" b="1">
                <a:solidFill>
                  <a:srgbClr val="F6FBF8"/>
                </a:solidFill>
              </a:rPr>
              <a:t>CLRSKY_SW_roll_mean_7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F429C-6616-4599-85E7-901222BE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02551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BE50A-F984-4C80-B29D-945121D7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0198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583679-7ED3-4CE4-B10E-E46F9822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1980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FFE4"/>
                </a:solidFill>
              </a:defRPr>
            </a:pPr>
            <a:r>
              <a:rPr sz="1200" b="1">
                <a:solidFill>
                  <a:srgbClr val="B8FFE4"/>
                </a:solidFill>
              </a:rPr>
              <a:t>0.049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6155C-3274-4552-866E-2BB21A14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6103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6FBF8"/>
                </a:solidFill>
              </a:defRPr>
            </a:pPr>
            <a:r>
              <a:rPr sz="1275" b="1">
                <a:solidFill>
                  <a:srgbClr val="F6FBF8"/>
                </a:solidFill>
              </a:rPr>
              <a:t>cos_dayofyear_lag_10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5D9651-667C-40FB-9B5F-AEFCB848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61606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8958CC-A96E-4A57-80E8-311087BB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294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02CE45-5BC7-432B-A2E3-C34C1AD4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61035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FFE4"/>
                </a:solidFill>
              </a:defRPr>
            </a:pPr>
            <a:r>
              <a:rPr sz="1200" b="1">
                <a:solidFill>
                  <a:srgbClr val="B8FFE4"/>
                </a:solidFill>
              </a:rPr>
              <a:t>0.038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6C11F7-771A-41CE-B0F3-2B07684D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20090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6FBF8"/>
                </a:solidFill>
              </a:defRPr>
            </a:pPr>
            <a:r>
              <a:rPr sz="1275" b="1">
                <a:solidFill>
                  <a:srgbClr val="F6FBF8"/>
                </a:solidFill>
              </a:rPr>
              <a:t>row_day_index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BD6C6E-5C44-410C-AB70-28E457C2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720661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26410D-8152-4B2D-A5C9-0D0921A5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239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7606D4-9A1E-4D81-A4D2-497310FF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20090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FFE4"/>
                </a:solidFill>
              </a:defRPr>
            </a:pPr>
            <a:r>
              <a:rPr sz="1200" b="1">
                <a:solidFill>
                  <a:srgbClr val="B8FFE4"/>
                </a:solidFill>
              </a:rPr>
              <a:t>0.038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427C5E-1783-46A7-9CF7-29559FCB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7914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6FBF8"/>
                </a:solidFill>
              </a:defRPr>
            </a:pPr>
            <a:r>
              <a:rPr sz="1275" b="1">
                <a:solidFill>
                  <a:srgbClr val="F6FBF8"/>
                </a:solidFill>
              </a:rPr>
              <a:t>cos_dayofyear_roll_mean_7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384F67-3796-4C02-A3D7-693FB064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779716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D2405A-0A0B-4391-A7B8-CB7D0B8C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772400"/>
            <a:ext cx="8667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822ED3-FDD8-400E-8595-6AE596BF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79145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FFE4"/>
                </a:solidFill>
              </a:defRPr>
            </a:pPr>
            <a:r>
              <a:rPr sz="1200" b="1">
                <a:solidFill>
                  <a:srgbClr val="B8FFE4"/>
                </a:solidFill>
              </a:rPr>
              <a:t>0.036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362EA0-3C84-46F0-BE7D-FC23EF5E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8"/>
          </a:solidFill>
          <a:ln xmlns:a="http://schemas.openxmlformats.org/drawingml/2006/main" w="0">
            <a:solidFill>
              <a:srgbClr val="24443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B5E5AF-EB40-4E4C-B4A3-A5D04518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553450"/>
            <a:ext cx="8305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FB3AA"/>
                </a:solidFill>
              </a:defRPr>
            </a:pPr>
            <a:r>
              <a:rPr sz="1725" b="0">
                <a:solidFill>
                  <a:srgbClr val="9FB3AA"/>
                </a:solidFill>
              </a:rPr>
              <a:t>Seasonal cycle, recent day index, and clear-sky solar radiation trends are among the strongest learned drivers.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32FB56-DA8E-4D8F-B390-0EAEB287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2887980"/>
            <a:ext cx="7260908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CC793C-BD02-4BC8-A77D-CBBE5322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24200"/>
            <a:ext cx="676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Wet-bulb risk thresholds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213EE5-FD85-4DA7-8337-B741AEFA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8443" y="353377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98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542311-244A-4C51-AA4A-8898EC23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6385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04"/>
                </a:solidFill>
              </a:defRPr>
            </a:pPr>
            <a:r>
              <a:rPr sz="1200" b="1">
                <a:solidFill>
                  <a:srgbClr val="020604"/>
                </a:solidFill>
              </a:rPr>
              <a:t>Low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3F8040-79E6-4EE8-B5B8-9554E18B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6243" y="353377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98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D35E8B-EA67-4DDA-8750-1BC25787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6385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04"/>
                </a:solidFill>
              </a:defRPr>
            </a:pPr>
            <a:r>
              <a:rPr sz="1200" b="1">
                <a:solidFill>
                  <a:srgbClr val="020604"/>
                </a:solidFill>
              </a:rPr>
              <a:t>&lt;24 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7732F8-7B19-40D8-A8D5-D50AD50E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4043" y="353377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98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C283B4-5B8C-41C3-BD29-9A31D6D4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638550"/>
            <a:ext cx="2686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04"/>
                </a:solidFill>
              </a:defRPr>
            </a:pPr>
            <a:r>
              <a:rPr sz="1200" b="1">
                <a:solidFill>
                  <a:srgbClr val="020604"/>
                </a:solidFill>
              </a:rPr>
              <a:t>monitor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B446F5-0E88-4631-AE83-B7336EE3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8443" y="40767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2A171B-1EDD-4D33-8EE5-DB13EF4E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910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04"/>
                </a:solidFill>
              </a:defRPr>
            </a:pPr>
            <a:r>
              <a:rPr sz="1200" b="1">
                <a:solidFill>
                  <a:srgbClr val="020604"/>
                </a:solidFill>
              </a:rPr>
              <a:t>Moderate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801727-7344-4A18-8865-A4879237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6243" y="40767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BFF5B5-2493-47CC-ACDA-0C9FD652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1910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04"/>
                </a:solidFill>
              </a:defRPr>
            </a:pPr>
            <a:r>
              <a:rPr sz="1200" b="1">
                <a:solidFill>
                  <a:srgbClr val="020604"/>
                </a:solidFill>
              </a:rPr>
              <a:t>24-27 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46644C-09FD-4DD3-943F-9042086C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4043" y="40767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D82287-A429-4B5D-A5B5-03E06361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191000"/>
            <a:ext cx="2686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04"/>
                </a:solidFill>
              </a:defRPr>
            </a:pPr>
            <a:r>
              <a:rPr sz="1200" b="1">
                <a:solidFill>
                  <a:srgbClr val="020604"/>
                </a:solidFill>
              </a:rPr>
              <a:t>caution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CD46CC-006F-4D03-8A3A-E3DDFA6B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8443" y="461962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47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D9C9AE-79A7-499D-ABD6-F2A5BE24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7244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04"/>
                </a:solidFill>
              </a:defRPr>
            </a:pPr>
            <a:r>
              <a:rPr sz="1200" b="1">
                <a:solidFill>
                  <a:srgbClr val="020604"/>
                </a:solidFill>
              </a:rPr>
              <a:t>High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040BF8-0823-489F-A55C-4F10E305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6243" y="461962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47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9B0152-7513-451F-AA3B-17E40B13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7244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04"/>
                </a:solidFill>
              </a:defRPr>
            </a:pPr>
            <a:r>
              <a:rPr sz="1200" b="1">
                <a:solidFill>
                  <a:srgbClr val="020604"/>
                </a:solidFill>
              </a:rPr>
              <a:t>27-30 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C547C7-E81E-49D9-B13C-ADA2AF0A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4043" y="461962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47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89052C-33B7-4E48-84F5-EC9D6231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724400"/>
            <a:ext cx="2686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04"/>
                </a:solidFill>
              </a:defRPr>
            </a:pPr>
            <a:r>
              <a:rPr sz="1200" b="1">
                <a:solidFill>
                  <a:srgbClr val="020604"/>
                </a:solidFill>
              </a:rPr>
              <a:t>prepare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F7AFE29-4BA1-428E-B0D5-BF585B13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8443" y="51625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6B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6C178E-5E1C-4BA2-ABA6-EC78D2C2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2768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04"/>
                </a:solidFill>
              </a:defRPr>
            </a:pPr>
            <a:r>
              <a:rPr sz="1200" b="1">
                <a:solidFill>
                  <a:srgbClr val="020604"/>
                </a:solidFill>
              </a:rPr>
              <a:t>Extreme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F96A963-F9BD-4470-A167-27826390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6243" y="51625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6B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15C5CF-A0D0-4BE4-8C3A-90BCAC6B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2768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04"/>
                </a:solidFill>
              </a:defRPr>
            </a:pPr>
            <a:r>
              <a:rPr sz="1200" b="1">
                <a:solidFill>
                  <a:srgbClr val="020604"/>
                </a:solidFill>
              </a:rPr>
              <a:t>&gt;=30 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DD10E0-AF49-4BAB-9323-3BAE8415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4043" y="51625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6B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1BA924B-67CF-434E-84F1-DDAD18BD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276850"/>
            <a:ext cx="2686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04"/>
                </a:solidFill>
              </a:defRPr>
            </a:pPr>
            <a:r>
              <a:rPr sz="1200" b="1">
                <a:solidFill>
                  <a:srgbClr val="020604"/>
                </a:solidFill>
              </a:rPr>
              <a:t>protect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63B9D1-8A9B-428D-AC21-FD9C1A4C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6450330"/>
            <a:ext cx="7260908" cy="3227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11B76F2-E608-47AF-BFEC-810FE8BB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705600"/>
            <a:ext cx="6724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6FBF8"/>
                </a:solidFill>
              </a:defRPr>
            </a:pPr>
            <a:r>
              <a:rPr sz="2325" b="1">
                <a:solidFill>
                  <a:srgbClr val="F6FBF8"/>
                </a:solidFill>
              </a:rPr>
              <a:t>Plain-English explanation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6162D0D-81E9-469A-98EA-8E9F43D1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7219950"/>
            <a:ext cx="67246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Example: risk is low in the selected forecast because the predicted WBT remains below 24 C, while the model is mainly reading seasonal cycle and recent heat-trend features.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C626BC-D33C-4345-AAEF-74949006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8248650"/>
            <a:ext cx="67246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8FFE4"/>
                </a:solidFill>
              </a:defRPr>
            </a:pPr>
            <a:r>
              <a:rPr sz="1875" b="0">
                <a:solidFill>
                  <a:srgbClr val="B8FFE4"/>
                </a:solidFill>
              </a:rPr>
              <a:t>For high or extreme peaks, the same module turns elevated humidity, temperature, and rolling heat trends into a concise explanation for users.</a:t>
            </a:r>
          </a:p>
        </p:txBody>
      </p:sp>
    </p:spTree>
    <p:extLst>
      <p:ext uri="{BB962C8B-B14F-4D97-AF65-F5344CB8AC3E}">
        <p14:creationId xmlns:p14="http://schemas.microsoft.com/office/powerpoint/2010/main" val="21060561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01D89C6F-7880-4D19-84ED-58E3708B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902B0BB-DB5D-4F99-89AB-B243D54D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DASHBOARD EXPERIENCE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E01CE1-2985-4FF1-8751-62301864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A judge-friendly interface focused on action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7B4E836-B5EE-4E57-98D2-B794B430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0629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UI keeps only what matters: location, forecast horizon, risk level, forecast chart, explanation, and advisory.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6C51589-AEE4-4581-8F1B-DAFC104E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1C1D7-5B57-4472-9900-00BE5187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10084594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198CD-881A-41E1-9616-A5677753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943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D16D3-D935-4F73-80E3-4B0EA4BB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F3C2"/>
                </a:solidFill>
              </a:defRPr>
            </a:pPr>
            <a:r>
              <a:rPr sz="1800" b="1">
                <a:solidFill>
                  <a:srgbClr val="67F3C2"/>
                </a:solidFill>
              </a:rPr>
              <a:t>HG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A5903-79D3-4391-8796-EF257390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67050"/>
            <a:ext cx="7086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8"/>
                </a:solidFill>
              </a:defRPr>
            </a:pPr>
            <a:r>
              <a:rPr sz="2850" b="1">
                <a:solidFill>
                  <a:srgbClr val="F6FBF8"/>
                </a:solidFill>
              </a:rPr>
              <a:t>HeatGuard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F9F6D-E1BA-4BC1-AD9F-A958A19A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4330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7F3C2"/>
                </a:solidFill>
              </a:defRPr>
            </a:pPr>
            <a:r>
              <a:rPr sz="1575" b="1">
                <a:solidFill>
                  <a:srgbClr val="67F3C2"/>
                </a:solidFill>
              </a:rPr>
              <a:t>10-Day Wet-Bulb Heat Risk Forecasting &amp; Action 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18129-462C-481A-83D7-D116E780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194" y="3059430"/>
            <a:ext cx="152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1C887-9F4F-4BD4-A4C4-E97C12DB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FE4"/>
                </a:solidFill>
              </a:defRPr>
            </a:pPr>
            <a:r>
              <a:rPr sz="1500" b="1">
                <a:solidFill>
                  <a:srgbClr val="B8FFE4"/>
                </a:solidFill>
              </a:rPr>
              <a:t>Track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9E200-6FFB-41B7-A9B6-AA475B56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7630"/>
            <a:ext cx="3082131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43D0E-BD57-40D9-BA00-C1CF30F3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955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Peak WBT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74D30-2442-47BC-9CC5-6FC645B1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2705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F3C2"/>
                </a:solidFill>
              </a:defRPr>
            </a:pPr>
            <a:r>
              <a:rPr sz="2550" b="1">
                <a:solidFill>
                  <a:srgbClr val="67F3C2"/>
                </a:solidFill>
              </a:rPr>
              <a:t>17.2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89FF9-5D1C-40FE-BA61-BB33BA4B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270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Day 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3F3CD-822D-4AD9-8AC4-1CBF5468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531" y="3897630"/>
            <a:ext cx="3082131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50DEC-F456-4A6D-A174-32A7306B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1955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Risk Level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54E4B-771B-4CEF-A027-2B3A2419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2705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D998"/>
                </a:solidFill>
              </a:defRPr>
            </a:pPr>
            <a:r>
              <a:rPr sz="2550" b="1">
                <a:solidFill>
                  <a:srgbClr val="20D998"/>
                </a:solidFill>
              </a:rPr>
              <a:t>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C7150-C961-427F-B6BA-9DF47C80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05350"/>
            <a:ext cx="270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WBT threshold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A1C70-AC82-49EA-A887-82EBC447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063" y="3897630"/>
            <a:ext cx="3082131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F2469-BC8F-44DF-9C3D-3636A724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955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Reliability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2B0A0-8648-4D06-ABE4-11C0B87F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67200"/>
            <a:ext cx="2705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8FFE4"/>
                </a:solidFill>
              </a:defRPr>
            </a:pPr>
            <a:r>
              <a:rPr sz="2550" b="1">
                <a:solidFill>
                  <a:srgbClr val="B8FFE4"/>
                </a:solidFill>
              </a:rPr>
              <a:t>96%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AFF86-A236-401A-96F4-0A0E108F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270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AA"/>
                </a:solidFill>
              </a:defRPr>
            </a:pPr>
            <a:r>
              <a:rPr sz="1200" b="0">
                <a:solidFill>
                  <a:srgbClr val="9FB3AA"/>
                </a:solidFill>
              </a:rPr>
              <a:t>validation-derived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E91509-20F2-40DC-90C0-25B5F590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3030"/>
            <a:ext cx="9551194" cy="431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0D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CDB18B-2ED9-43EC-B1F2-A60891C4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29250"/>
            <a:ext cx="901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6FBF8"/>
                </a:solidFill>
              </a:defRPr>
            </a:pPr>
            <a:r>
              <a:rPr sz="2025" b="1">
                <a:solidFill>
                  <a:srgbClr val="F6FBF8"/>
                </a:solidFill>
              </a:rPr>
              <a:t>10-Day Wet-Bulb Forecast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872A6F-2B16-4E6B-9C0E-BA0C30D0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06440"/>
            <a:ext cx="225444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B30A9B-F508-49D9-8D2B-4AF2F308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245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FFE4"/>
                </a:solidFill>
              </a:defRPr>
            </a:pPr>
            <a:r>
              <a:rPr sz="1350" b="0">
                <a:solidFill>
                  <a:srgbClr val="B8FFE4"/>
                </a:solidFill>
              </a:rPr>
              <a:t>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222C02-A902-4E27-B933-B94D4903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148" y="5806440"/>
            <a:ext cx="225444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526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B8BC00-2F33-4054-9089-344CCBEE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9245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FFE4"/>
                </a:solidFill>
              </a:defRPr>
            </a:pPr>
            <a:r>
              <a:rPr sz="1350" b="0">
                <a:solidFill>
                  <a:srgbClr val="B8FFE4"/>
                </a:solidFill>
              </a:rPr>
              <a:t>Moderate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3CADE6-49C4-42D1-8BB9-5252DD7D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597" y="5806440"/>
            <a:ext cx="225444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714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837083-7FA1-4714-98D6-31395B73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9245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High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12D1FE-FDCD-46AC-9BDF-3CE362CF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3045" y="5806440"/>
            <a:ext cx="225444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1919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A46CA8-4457-4021-945A-0C396DDD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245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Extreme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C037-0958-4811-8739-D6481106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4198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Day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C69E40-45E1-49B8-81D1-967D413B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41604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A65E1E-F479-4C40-9BA1-DE2480F1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400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FB34C2-4066-428A-8F92-3281F31E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41985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7F3C2"/>
                </a:solidFill>
              </a:defRPr>
            </a:pPr>
            <a:r>
              <a:rPr sz="1425" b="1">
                <a:solidFill>
                  <a:srgbClr val="67F3C2"/>
                </a:solidFill>
              </a:rPr>
              <a:t>15.6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62B40D-013F-479D-9C87-656DFE81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9532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Day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EE862C-435A-4EB4-AA95-C3B3F54B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94944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004ED0-89BF-4F7B-8293-B94983B1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9342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16EF71-00CA-4CE5-A00D-9FF3249E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95325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7F3C2"/>
                </a:solidFill>
              </a:defRPr>
            </a:pPr>
            <a:r>
              <a:rPr sz="1425" b="1">
                <a:solidFill>
                  <a:srgbClr val="67F3C2"/>
                </a:solidFill>
              </a:rPr>
              <a:t>15.3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CA513A-9B19-41AE-81E2-E4429B72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4866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Day 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59EFB2-CCA3-498A-8B98-79EE3521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748284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A832A5-1E8D-4F59-A980-AF3793AF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467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141726-554F-45E9-9250-6C1B3AAA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48665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7F3C2"/>
                </a:solidFill>
              </a:defRPr>
            </a:pPr>
            <a:r>
              <a:rPr sz="1425" b="1">
                <a:solidFill>
                  <a:srgbClr val="67F3C2"/>
                </a:solidFill>
              </a:rPr>
              <a:t>13.4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22D4BA-6F2A-456A-BE06-0A5F54ED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0200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Day 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F570E9-7D17-4700-8282-C67F01C4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801624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F5139C-5AD0-4EC9-B366-DCBBED6B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0010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E4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B1B2DC-21F1-44A7-92E2-BC9E28EF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802005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FFE4"/>
                </a:solidFill>
              </a:defRPr>
            </a:pPr>
            <a:r>
              <a:rPr sz="1425" b="1">
                <a:solidFill>
                  <a:srgbClr val="B8FFE4"/>
                </a:solidFill>
              </a:rPr>
              <a:t>17.2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034E03-EAC3-4586-B7E6-22591DE8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5534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BF8"/>
                </a:solidFill>
              </a:defRPr>
            </a:pPr>
            <a:r>
              <a:rPr sz="1425" b="1">
                <a:solidFill>
                  <a:srgbClr val="F6FBF8"/>
                </a:solidFill>
              </a:rPr>
              <a:t>Day 10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9A560E-5D1B-43F1-A4B0-8E009F6C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854964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7B0B44-60D3-4719-A86D-13F642F5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534400"/>
            <a:ext cx="2714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58093D-BFB1-4D64-B967-355A9D93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8553450"/>
            <a:ext cx="80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7F3C2"/>
                </a:solidFill>
              </a:defRPr>
            </a:pPr>
            <a:r>
              <a:rPr sz="1425" b="1">
                <a:solidFill>
                  <a:srgbClr val="67F3C2"/>
                </a:solidFill>
              </a:rPr>
              <a:t>16.3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A1F696-675D-40DD-A1ED-3ED80380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944" y="288798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C05A8B-CBEB-4313-8580-60DD72F2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0289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01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750CAA-7915-475C-A43C-600581C6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895600"/>
            <a:ext cx="516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Input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6FF72F-87ED-4D0B-87B3-D829EF17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295650"/>
            <a:ext cx="516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Select Kaggle grid/location and forecast anchor day.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C66DE2-09BF-4B19-96AD-C39191B7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944" y="382143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380B1F-7757-446E-B917-7EE811F2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96240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02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E37426D-6D5E-416A-B366-2D7E4667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829050"/>
            <a:ext cx="516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Forecast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48FC63-6CAC-41D5-8D79-36C36F69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229100"/>
            <a:ext cx="516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Interactive 10-day WBT risk visualization.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5F281B-F72C-4E4E-9C5E-86D15631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944" y="475488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8B15AC-6C63-4155-9246-CDB71AE3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8958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03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E1BD428-BD15-4AEA-A7E8-8F9ABFBE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762500"/>
            <a:ext cx="516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Explain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380AE38-D902-4128-9BED-773C40DF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162550"/>
            <a:ext cx="516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Plain-English feature-driver summary.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52F2F9-5AC7-4CF3-B7D4-1EA3EF43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944" y="568833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117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56C12B1-0FB5-4219-A4EF-8F10C930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82930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F3C2"/>
                </a:solidFill>
              </a:defRPr>
            </a:pPr>
            <a:r>
              <a:rPr sz="2100" b="1">
                <a:solidFill>
                  <a:srgbClr val="67F3C2"/>
                </a:solidFill>
              </a:rPr>
              <a:t>04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BD74F92-3E14-4595-93E3-7D2DB34E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695950"/>
            <a:ext cx="516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BF8"/>
                </a:solidFill>
              </a:defRPr>
            </a:pPr>
            <a:r>
              <a:rPr sz="2175" b="1">
                <a:solidFill>
                  <a:srgbClr val="F6FBF8"/>
                </a:solidFill>
              </a:rPr>
              <a:t>Advise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4AB75E8-2C77-4140-B64C-E6B4B820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096000"/>
            <a:ext cx="516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AA"/>
                </a:solidFill>
              </a:defRPr>
            </a:pPr>
            <a:r>
              <a:rPr sz="1650" b="0">
                <a:solidFill>
                  <a:srgbClr val="9FB3AA"/>
                </a:solidFill>
              </a:rPr>
              <a:t>Audience-specific heat action plan.</a:t>
            </a:r>
          </a:p>
        </p:txBody>
      </p:sp>
    </p:spTree>
    <p:extLst>
      <p:ext uri="{BB962C8B-B14F-4D97-AF65-F5344CB8AC3E}">
        <p14:creationId xmlns:p14="http://schemas.microsoft.com/office/powerpoint/2010/main" val="8739009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A11AF13F-2B9F-47A9-8C76-CDB1EFA0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4793917-BFA1-4DF5-B0F5-AEA64550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GENAI ADVISORY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35E95D-BC23-4F89-85A7-4E8E4FC5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Forecasts become operational recommendations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9B5BF7A-4274-48DB-99FF-41E2FA85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11252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Gemini powers structured advice when GEMINI_API_KEY is configured; a rule-based fallback keeps the app reliable.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C7E975-0D51-4E64-ADA9-FEA58927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3E653-BBC7-44AA-B09F-2002B905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8874443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611BF-9C18-4F59-BDBF-BE7DB3FF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468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4019D-838C-4E1D-851E-D5CB30E8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575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8AD89-A3D3-4E65-AF22-B0763C99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5468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CE907-61E3-4120-9254-C02F1141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575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Recommended action focus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B2F79-D1E8-41BC-AF66-B6ACBD5E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428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27B02-FC46-4166-934C-6184694C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Citizens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5F052-7EDB-4F3F-BEA1-A4A87E3B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6428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9A0FA-DFF3-449E-B7D1-251932AA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671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Hydration, shade, symptom awareness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2971F-C09C-4CA6-B1FC-CC6E7768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198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F8D7F-CED4-43F4-A383-005EBF95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148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Hospitals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11E14-FC19-457E-A031-9639B4E7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1198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47CF2-5492-4250-9D73-E52E3B61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148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Readiness, triage, cooling capacity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8A6B2-63E1-4DBB-8C2A-271FBD64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5968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DBE60-854B-4453-872B-0839F24C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625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Schools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96C98-10BC-41CF-9BDC-2D4903B9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5968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7DC97-00E7-42E4-B572-7761EB36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625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Outdoor activity adjustment, hydration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7A8FB9-BD8C-4701-AAEF-BA9C85EF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0738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17FAE4-477E-4075-9937-E692A002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102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Workers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993A76-E10E-41C7-A684-573BA688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0738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593A2-FECE-43A4-94D6-3B4DC726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8102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Rest cycles, shaded breaks, supervisor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62217F-D3EB-4938-872B-A0614D01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5508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06EB0B-846F-431F-875D-2673A607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4579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Authorities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11797A-9F44-42FD-BBB3-FE94DB57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35508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D90F38-D442-44A3-B7F2-D4562A7C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4579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Messaging, shelters, water points, surge planning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D4F2C7-C79F-44C9-8A34-98155037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2887980"/>
            <a:ext cx="7260908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4FC068-0C07-4ADD-8F95-B93BB0D8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86100"/>
            <a:ext cx="6800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Gemini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50906E-CE3E-4369-958E-D35615A5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90900"/>
            <a:ext cx="6800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67F3C2"/>
                </a:solidFill>
              </a:defRPr>
            </a:pPr>
            <a:r>
              <a:rPr sz="3225" b="1">
                <a:solidFill>
                  <a:srgbClr val="67F3C2"/>
                </a:solidFill>
              </a:rPr>
              <a:t>gemini-1.5-flash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2D641C-CE47-4438-A8C3-A4A03ED7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0"/>
            <a:ext cx="6800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loaded from env secret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4761AB-49CC-41E9-A59A-902B656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4792980"/>
            <a:ext cx="7260908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673CFC-126A-4C8D-AEBF-5A2736BC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91100"/>
            <a:ext cx="6800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FB3AA"/>
                </a:solidFill>
              </a:defRPr>
            </a:pPr>
            <a:r>
              <a:rPr sz="1275" b="1">
                <a:solidFill>
                  <a:srgbClr val="9FB3AA"/>
                </a:solidFill>
              </a:rPr>
              <a:t>Fallback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242823-94FE-41D4-85DB-B9C56D4A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95900"/>
            <a:ext cx="6800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B8FFE4"/>
                </a:solidFill>
              </a:defRPr>
            </a:pPr>
            <a:r>
              <a:rPr sz="3225" b="1">
                <a:solidFill>
                  <a:srgbClr val="B8FFE4"/>
                </a:solidFill>
              </a:rPr>
              <a:t>Rule-based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148EE1-3230-4672-AB45-AE267C22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905500"/>
            <a:ext cx="6800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FB3AA"/>
                </a:solidFill>
              </a:defRPr>
            </a:pPr>
            <a:r>
              <a:rPr sz="1425" b="0">
                <a:solidFill>
                  <a:srgbClr val="9FB3AA"/>
                </a:solidFill>
              </a:rPr>
              <a:t>runs when key is missing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B1FF5D-5AC1-4CB7-B9DD-C09690C8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6697980"/>
            <a:ext cx="7260908" cy="297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8B9E02-796A-49E7-B98D-3403C4EA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953250"/>
            <a:ext cx="6724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6FBF8"/>
                </a:solidFill>
              </a:defRPr>
            </a:pPr>
            <a:r>
              <a:rPr sz="2325" b="1">
                <a:solidFill>
                  <a:srgbClr val="F6FBF8"/>
                </a:solidFill>
              </a:rPr>
              <a:t>Safety guardrails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696EC0-BAF9-43FE-9CC4-96C77033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7429500"/>
            <a:ext cx="6724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FB3AA"/>
                </a:solidFill>
              </a:defRPr>
            </a:pPr>
            <a:r>
              <a:rPr sz="2025" b="1">
                <a:solidFill>
                  <a:srgbClr val="9FB3AA"/>
                </a:solidFill>
              </a:rPr>
              <a:t>No fake government alerts. Recommendations mention uncertainty and remain practical for the selected risk level.</a:t>
            </a:r>
          </a:p>
        </p:txBody>
      </p:sp>
    </p:spTree>
    <p:extLst>
      <p:ext uri="{BB962C8B-B14F-4D97-AF65-F5344CB8AC3E}">
        <p14:creationId xmlns:p14="http://schemas.microsoft.com/office/powerpoint/2010/main" val="9658022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02034868-CC60-42DA-AFBB-E4F3EA1B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366E7DA-617F-496B-835C-EB20D418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FINAL SUBMISSION PACKAGE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8A163E-1512-48DC-B81E-94D7C1A6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What goes where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C3AADE1-E735-45C8-B960-534C03C5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0344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project separates scoring artifacts, code repository, deployment files, and judge-facing demo materials.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119DF0C-4747-44EA-A41F-70EA823C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4EF6F-BE2C-4984-B29A-B2C22D74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16535400" cy="6789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EB917-4500-4066-A5EC-49AB1F80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7373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B8038-B8E8-4E9E-890F-956BA04E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7660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Destination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12822-ECBA-4F85-8246-9A18E95F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7373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CD2B9-2577-42DE-89DB-6613F47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Upload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D2033-D616-4919-B8A4-21C07189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7373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0FF38-BB69-4319-995B-96AF7228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7660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18766-33E9-425F-8320-8618A961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0238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E7C03-B55C-4534-A633-7604310B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Kaggle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605A2-CA29-4F23-BA68-3AFC8517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0238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7F588-4337-4446-8DB8-129905C6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submission.csv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25C65-B62F-4770-B5AA-86610642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0238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0A2C8-E0D8-4E67-878C-673EA098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0525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Leaderboard scoring file with row_id and target_day_1...10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7D10F0-53AC-4A31-B0EA-187495BC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438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47C7B-9F9E-4FC0-8096-997091C6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GitHub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A6328-7E61-4C40-8242-BC1AF711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6438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47E4A-B25E-4439-857C-838B8BCF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672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source code + README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1C729-67C0-467E-9E1F-51E3910C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6438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1FFE3E-2596-4094-A915-6EF51D86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6725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Do not commit .env, Kaggle CSVs, or large model without LFS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9C2F7-BFEB-4CB1-8EC4-882246AC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2638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7F1F4-BFCC-4B12-99EC-9880F434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2925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Hugging Face Spaces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4462B-0910-4195-B3F2-EE8F7ADE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2638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E962C6-C083-4CBD-972C-9900089C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292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app.py, src, assets, model artifacts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6079B-F90B-4C5F-B5B7-481FD5A9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32638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12D192-DB99-463E-917D-97AA3C5D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2925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Add GEMINI_API_KEY as a Space secret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0B6B64-AA3C-40EA-81E3-9D254BF5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8838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C772A4-BDBD-40E0-B390-866FA620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19125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Judges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BCFF22-FA8D-426F-96DD-6D70D7E7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08838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9A2A8D-D432-459E-A2C7-6C8878C5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912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PPT + demo video + live link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48AF74-495B-4F32-9635-4CB22C4F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08838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F159F9-F6AD-4D6E-900E-BF9D136C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9125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BF8"/>
                </a:solidFill>
              </a:defRPr>
            </a:pPr>
            <a:r>
              <a:rPr sz="1350" b="0">
                <a:solidFill>
                  <a:srgbClr val="F6FBF8"/>
                </a:solidFill>
              </a:rPr>
              <a:t>Links to be added after GitHub and Hugging Face are created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17ECA4-7D41-459F-9C06-3E3C4341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50380"/>
            <a:ext cx="7867650" cy="2541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A3260C-5C83-4FEF-9A3F-319486C2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05650"/>
            <a:ext cx="7334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FFE4"/>
                </a:solidFill>
              </a:defRPr>
            </a:pPr>
            <a:r>
              <a:rPr sz="2250" b="1">
                <a:solidFill>
                  <a:srgbClr val="B8FFE4"/>
                </a:solidFill>
              </a:rPr>
              <a:t>GitHub link: &lt;add after upload&gt;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5154C0-6032-45A4-B443-135AF62D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850380"/>
            <a:ext cx="7867650" cy="2541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F1C58B-EC28-4FA6-927C-9B9558DE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105650"/>
            <a:ext cx="7334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FFE4"/>
                </a:solidFill>
              </a:defRPr>
            </a:pPr>
            <a:r>
              <a:rPr sz="2250" b="1">
                <a:solidFill>
                  <a:srgbClr val="B8FFE4"/>
                </a:solidFill>
              </a:rPr>
              <a:t>Hugging Face link: &lt;add after deploy&gt;</a:t>
            </a:r>
          </a:p>
        </p:txBody>
      </p:sp>
    </p:spTree>
    <p:extLst>
      <p:ext uri="{BB962C8B-B14F-4D97-AF65-F5344CB8AC3E}">
        <p14:creationId xmlns:p14="http://schemas.microsoft.com/office/powerpoint/2010/main" val="16837168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70A670CE-1227-4A79-8425-F6724264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4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A0040A4-EE25-46E1-BBE0-A1A024B7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F3C2"/>
                </a:solidFill>
              </a:defRPr>
            </a:pPr>
            <a:r>
              <a:rPr sz="1350" b="1">
                <a:solidFill>
                  <a:srgbClr val="67F3C2"/>
                </a:solidFill>
              </a:rPr>
              <a:t>WHY HEATGUARD AI CAN WIN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F5A4D6-80CF-4AED-AAD1-EDEE8693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BF8"/>
                </a:solidFill>
              </a:defRPr>
            </a:pPr>
            <a:r>
              <a:rPr sz="4350" b="1">
                <a:solidFill>
                  <a:srgbClr val="F6FBF8"/>
                </a:solidFill>
              </a:rPr>
              <a:t>Accurate forecast, interpretable risk, deployable action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E7EC6DD-0548-4F07-B5A1-8C16D1B2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0420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The project demonstrates the complete path from Kaggle-grade forecasting to climate-risk decision support.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2315DE1-F965-4238-96A9-358F7EEC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F3C2"/>
          </a:solidFill>
          <a:ln xmlns:a="http://schemas.openxmlformats.org/drawingml/2006/main" w="0">
            <a:solidFill>
              <a:srgbClr val="67F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B31ED-8A1A-45C1-8FD8-8ED41BCF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7980"/>
            <a:ext cx="5346700" cy="4208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B8700-266F-47A7-8CED-188CBCBA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F3C2"/>
                </a:solidFill>
              </a:defRPr>
            </a:pPr>
            <a:r>
              <a:rPr sz="1800" b="1">
                <a:solidFill>
                  <a:srgbClr val="67F3C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B4507-E027-4FA3-8717-66CFF1D7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4781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8"/>
                </a:solidFill>
              </a:defRPr>
            </a:pPr>
            <a:r>
              <a:rPr sz="2850" b="1">
                <a:solidFill>
                  <a:srgbClr val="F6FBF8"/>
                </a:solidFill>
              </a:rPr>
              <a:t>Strong ML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F36B0-02DE-4E70-B2D1-4ECF2F8B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4781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Time-aware validation, 237 engineered features, and saved reusable model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31F81-FBD3-4758-94D2-3727E814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2887980"/>
            <a:ext cx="5346700" cy="4208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E2105-0B0F-4453-920A-33D68E7B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F3C2"/>
                </a:solidFill>
              </a:defRPr>
            </a:pPr>
            <a:r>
              <a:rPr sz="1800" b="1">
                <a:solidFill>
                  <a:srgbClr val="67F3C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52D85-ED21-481E-BF7E-368DA5AB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4781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8"/>
                </a:solidFill>
              </a:defRPr>
            </a:pPr>
            <a:r>
              <a:rPr sz="2850" b="1">
                <a:solidFill>
                  <a:srgbClr val="F6FBF8"/>
                </a:solidFill>
              </a:rPr>
              <a:t>Decision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ECF3E-6EF0-4F6A-BF74-5375E746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781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Risk categories, model explanation, and audience-specific advisories.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DD7B4-26D2-4209-93F3-B0E6C58D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887980"/>
            <a:ext cx="5346700" cy="4208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0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8AB27-AA51-404A-819F-4FFD3BBC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16230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F3C2"/>
                </a:solidFill>
              </a:defRPr>
            </a:pPr>
            <a:r>
              <a:rPr sz="1800" b="1">
                <a:solidFill>
                  <a:srgbClr val="67F3C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E3A3B-B3C1-4B6C-924D-4A5D269A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619500"/>
            <a:ext cx="4781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8"/>
                </a:solidFill>
              </a:defRPr>
            </a:pPr>
            <a:r>
              <a:rPr sz="2850" b="1">
                <a:solidFill>
                  <a:srgbClr val="F6FBF8"/>
                </a:solidFill>
              </a:rPr>
              <a:t>Demo-ready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E852F-3E85-45EE-B2CC-A23B310D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248150"/>
            <a:ext cx="4781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FB3AA"/>
                </a:solidFill>
              </a:defRPr>
            </a:pPr>
            <a:r>
              <a:rPr sz="1875" b="0">
                <a:solidFill>
                  <a:srgbClr val="9FB3AA"/>
                </a:solidFill>
              </a:rPr>
              <a:t>Streamlit UI, Gemini integration, GitHub-ready repo, and HF deployment support.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666DE-7054-4986-ABAE-54A440DA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62886"/>
            <a:ext cx="16535400" cy="23145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7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F533D-B140-4D24-B9FA-FC2FBB0C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639050"/>
            <a:ext cx="257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6FBF8"/>
                </a:solidFill>
              </a:defRPr>
            </a:pPr>
            <a:r>
              <a:rPr sz="2325" b="1">
                <a:solidFill>
                  <a:srgbClr val="F6FBF8"/>
                </a:solidFill>
              </a:rPr>
              <a:t>Final demo flow: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A39077-1AAB-4F9C-8EEC-1C25338A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639050"/>
            <a:ext cx="1310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FFE4"/>
                </a:solidFill>
              </a:defRPr>
            </a:pPr>
            <a:r>
              <a:rPr sz="2250" b="1">
                <a:solidFill>
                  <a:srgbClr val="B8FFE4"/>
                </a:solidFill>
              </a:rPr>
              <a:t>select location -&gt; view forecast -&gt; inspect risk -&gt; generate advisory -&gt; show deployment links</a:t>
            </a:r>
          </a:p>
        </p:txBody>
      </p:sp>
    </p:spTree>
    <p:extLst>
      <p:ext uri="{BB962C8B-B14F-4D97-AF65-F5344CB8AC3E}">
        <p14:creationId xmlns:p14="http://schemas.microsoft.com/office/powerpoint/2010/main" val="1762121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2026-05-14T10:05:09.7920000Z</dcterms:created>
  <dcterms:modified xsi:type="dcterms:W3CDTF">2026-05-14T10:05:09.7920000Z</dcterms:modified>
</coreProperties>
</file>